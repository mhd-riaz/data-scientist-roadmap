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920240"/>
            <a:ext cx="10332720" cy="769441"/>
          </a:xfrm>
          <a:prstGeom prst="rect">
            <a:avLst/>
          </a:prstGeom>
          <a:noFill/>
        </p:spPr>
        <p:txBody>
          <a:bodyPr wrap="square">
            <a:spAutoFit/>
          </a:bodyPr>
          <a:lstStyle/>
          <a:p>
            <a:pPr algn="l">
              <a:spcAft>
                <a:spcPts val="800"/>
              </a:spcAft>
            </a:pPr>
            <a:r>
              <a:rPr sz="4400" b="1" dirty="0">
                <a:solidFill>
                  <a:schemeClr val="accent2"/>
                </a:solidFill>
              </a:rPr>
              <a:t>Beyond the Headline</a:t>
            </a:r>
          </a:p>
        </p:txBody>
      </p:sp>
      <p:sp>
        <p:nvSpPr>
          <p:cNvPr id="3" name="TextBox 2"/>
          <p:cNvSpPr txBox="1"/>
          <p:nvPr/>
        </p:nvSpPr>
        <p:spPr>
          <a:xfrm>
            <a:off x="914400" y="2926080"/>
            <a:ext cx="10332720" cy="822960"/>
          </a:xfrm>
          <a:prstGeom prst="rect">
            <a:avLst/>
          </a:prstGeom>
          <a:noFill/>
        </p:spPr>
        <p:txBody>
          <a:bodyPr wrap="square">
            <a:spAutoFit/>
          </a:bodyPr>
          <a:lstStyle/>
          <a:p>
            <a:pPr algn="l">
              <a:spcAft>
                <a:spcPts val="800"/>
              </a:spcAft>
            </a:pPr>
            <a:r>
              <a:rPr sz="2400" b="0" dirty="0">
                <a:solidFill>
                  <a:srgbClr val="5A6675"/>
                </a:solidFill>
              </a:rPr>
              <a:t>Calibrated news article classifier: 13 topics, read from the whole article, and quiet when it is not sure</a:t>
            </a:r>
          </a:p>
        </p:txBody>
      </p:sp>
      <p:sp>
        <p:nvSpPr>
          <p:cNvPr id="4" name="TextBox 3"/>
          <p:cNvSpPr txBox="1"/>
          <p:nvPr/>
        </p:nvSpPr>
        <p:spPr>
          <a:xfrm>
            <a:off x="914400" y="4206240"/>
            <a:ext cx="10332720" cy="369332"/>
          </a:xfrm>
          <a:prstGeom prst="rect">
            <a:avLst/>
          </a:prstGeom>
          <a:noFill/>
        </p:spPr>
        <p:txBody>
          <a:bodyPr wrap="square">
            <a:spAutoFit/>
          </a:bodyPr>
          <a:lstStyle/>
          <a:p>
            <a:pPr algn="l">
              <a:spcAft>
                <a:spcPts val="800"/>
              </a:spcAft>
            </a:pPr>
            <a:r>
              <a:rPr sz="1800" b="0" dirty="0">
                <a:solidFill>
                  <a:schemeClr val="bg2">
                    <a:lumMod val="50000"/>
                  </a:schemeClr>
                </a:solidFill>
              </a:rPr>
              <a:t>Mohamed Riaz  ·  PES1PGE25DS037</a:t>
            </a:r>
          </a:p>
        </p:txBody>
      </p:sp>
      <p:sp>
        <p:nvSpPr>
          <p:cNvPr id="5" name="TextBox 4"/>
          <p:cNvSpPr txBox="1"/>
          <p:nvPr/>
        </p:nvSpPr>
        <p:spPr>
          <a:xfrm>
            <a:off x="914400" y="4663440"/>
            <a:ext cx="10332720" cy="338554"/>
          </a:xfrm>
          <a:prstGeom prst="rect">
            <a:avLst/>
          </a:prstGeom>
          <a:noFill/>
        </p:spPr>
        <p:txBody>
          <a:bodyPr wrap="square">
            <a:spAutoFit/>
          </a:bodyPr>
          <a:lstStyle/>
          <a:p>
            <a:pPr algn="l">
              <a:spcAft>
                <a:spcPts val="800"/>
              </a:spcAft>
            </a:pPr>
            <a:r>
              <a:rPr sz="1600" b="0" dirty="0">
                <a:solidFill>
                  <a:srgbClr val="5A6675"/>
                </a:solidFill>
              </a:rPr>
              <a:t>Supervised Machine Learning — Classification  ·  Mini Project  ·  Department of </a:t>
            </a:r>
            <a:r>
              <a:rPr lang="en-US" sz="1600" b="0" dirty="0">
                <a:solidFill>
                  <a:srgbClr val="5A6675"/>
                </a:solidFill>
              </a:rPr>
              <a:t>DS &amp; Ai</a:t>
            </a:r>
            <a:r>
              <a:rPr sz="1600" b="0" dirty="0">
                <a:solidFill>
                  <a:srgbClr val="5A6675"/>
                </a:solidFill>
              </a:rPr>
              <a:t>, PES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dirty="0">
                <a:solidFill>
                  <a:srgbClr val="C0392B"/>
                </a:solidFill>
              </a:rPr>
              <a:t>PROBLEM</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The same story, filed five different ways</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10881360" cy="4663440"/>
          </a:xfrm>
          <a:prstGeom prst="rect">
            <a:avLst/>
          </a:prstGeom>
          <a:noFill/>
        </p:spPr>
        <p:txBody>
          <a:bodyPr wrap="square">
            <a:spAutoFit/>
          </a:bodyPr>
          <a:lstStyle/>
          <a:p>
            <a:pPr>
              <a:spcAft>
                <a:spcPts val="1200"/>
              </a:spcAft>
            </a:pPr>
            <a:r>
              <a:rPr sz="1800">
                <a:solidFill>
                  <a:srgbClr val="1B222C"/>
                </a:solidFill>
              </a:rPr>
              <a:t>One PTI story on the repo rate. The Hindu files it under Business. Indian Express files it under India. Deccan Herald puts it in Top Stories.</a:t>
            </a:r>
          </a:p>
          <a:p>
            <a:pPr>
              <a:spcAft>
                <a:spcPts val="1200"/>
              </a:spcAft>
            </a:pPr>
            <a:r>
              <a:rPr sz="1800">
                <a:solidFill>
                  <a:srgbClr val="1B222C"/>
                </a:solidFill>
              </a:rPr>
              <a:t>Every paper has its own section names. There is no common list, because sections are a newsroom habit, not a fact about the article.</a:t>
            </a:r>
          </a:p>
          <a:p>
            <a:pPr>
              <a:spcAft>
                <a:spcPts val="1200"/>
              </a:spcAft>
            </a:pPr>
            <a:r>
              <a:rPr sz="1800">
                <a:solidFill>
                  <a:srgbClr val="1B222C"/>
                </a:solidFill>
              </a:rPr>
              <a:t>My job: give every article one topic from a fixed list of 13, no matter who published it.</a:t>
            </a:r>
          </a:p>
          <a:p>
            <a:pPr lvl="1">
              <a:spcAft>
                <a:spcPts val="600"/>
              </a:spcAft>
            </a:pPr>
            <a:r>
              <a:rPr sz="1500">
                <a:solidFill>
                  <a:srgbClr val="5A6675"/>
                </a:solidFill>
              </a:rPr>
              <a:t>Rule I set for myself: only the classical ML from this course. No ChatGPT, no LLM anywhere. If the model says sport, I must be able to point at the words that made it say sport.</a:t>
            </a:r>
          </a:p>
        </p:txBody>
      </p:sp>
      <p:sp>
        <p:nvSpPr>
          <p:cNvPr id="6" name="TextBox 5"/>
          <p:cNvSpPr txBox="1"/>
          <p:nvPr/>
        </p:nvSpPr>
        <p:spPr>
          <a:xfrm>
            <a:off x="640080" y="5943600"/>
            <a:ext cx="10881360" cy="548640"/>
          </a:xfrm>
          <a:prstGeom prst="rect">
            <a:avLst/>
          </a:prstGeom>
          <a:noFill/>
        </p:spPr>
        <p:txBody>
          <a:bodyPr wrap="square">
            <a:spAutoFit/>
          </a:bodyPr>
          <a:lstStyle/>
          <a:p>
            <a:pPr algn="l">
              <a:spcAft>
                <a:spcPts val="800"/>
              </a:spcAft>
            </a:pPr>
            <a:r>
              <a:rPr sz="1400" b="0">
                <a:solidFill>
                  <a:srgbClr val="5A6675"/>
                </a:solidFill>
              </a:rPr>
              <a:t>The 13 topics: politics · business · crime and justice · technology · sport · entertainment · health · education · science and space · environment · disaster · conflict · society and lifestyle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HYPOTHESIS</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My question</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10881360" cy="4663440"/>
          </a:xfrm>
          <a:prstGeom prst="rect">
            <a:avLst/>
          </a:prstGeom>
          <a:noFill/>
        </p:spPr>
        <p:txBody>
          <a:bodyPr wrap="square">
            <a:spAutoFit/>
          </a:bodyPr>
          <a:lstStyle/>
          <a:p>
            <a:pPr>
              <a:spcAft>
                <a:spcPts val="1200"/>
              </a:spcAft>
            </a:pPr>
            <a:r>
              <a:rPr sz="1800">
                <a:solidFill>
                  <a:srgbClr val="1B222C"/>
                </a:solidFill>
              </a:rPr>
              <a:t>An RSS feed gives me the headline and a one-line summary. About 33 words. Most news classifiers stop there.</a:t>
            </a:r>
          </a:p>
          <a:p>
            <a:pPr>
              <a:spcAft>
                <a:spcPts val="1200"/>
              </a:spcAft>
            </a:pPr>
            <a:r>
              <a:rPr sz="1800">
                <a:solidFill>
                  <a:srgbClr val="1B222C"/>
                </a:solidFill>
              </a:rPr>
              <a:t>My collector opens the link and pulls the full article. About 650 words, roughly 100 times more text.</a:t>
            </a:r>
          </a:p>
          <a:p>
            <a:pPr>
              <a:spcAft>
                <a:spcPts val="1200"/>
              </a:spcAft>
            </a:pPr>
            <a:r>
              <a:rPr sz="1800">
                <a:solidFill>
                  <a:srgbClr val="1B222C"/>
                </a:solidFill>
              </a:rPr>
              <a:t>Is the extra text actually useful? Not obvious. Full articles also carry ads, author bios and “Story continues below this ad”. The model can easily learn those instead of the topic.</a:t>
            </a:r>
          </a:p>
        </p:txBody>
      </p:sp>
      <p:sp>
        <p:nvSpPr>
          <p:cNvPr id="6" name="TextBox 5"/>
          <p:cNvSpPr txBox="1"/>
          <p:nvPr/>
        </p:nvSpPr>
        <p:spPr>
          <a:xfrm>
            <a:off x="640080" y="4846320"/>
            <a:ext cx="10881360" cy="914400"/>
          </a:xfrm>
          <a:prstGeom prst="rect">
            <a:avLst/>
          </a:prstGeom>
          <a:noFill/>
        </p:spPr>
        <p:txBody>
          <a:bodyPr wrap="square">
            <a:spAutoFit/>
          </a:bodyPr>
          <a:lstStyle/>
          <a:p>
            <a:pPr algn="l">
              <a:spcAft>
                <a:spcPts val="800"/>
              </a:spcAft>
            </a:pPr>
            <a:r>
              <a:rPr sz="2600" b="1">
                <a:solidFill>
                  <a:srgbClr val="C0392B"/>
                </a:solidFill>
              </a:rPr>
              <a:t>Does the full article beat the headline? I wanted to measure it, not assume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SYSTEM</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What was built</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377440"/>
            <a:ext cx="2011680" cy="1737360"/>
          </a:xfrm>
          <a:prstGeom prst="roundRect">
            <a:avLst/>
          </a:prstGeom>
          <a:solidFill>
            <a:srgbClr val="F2F5F8"/>
          </a:solidFill>
          <a:ln>
            <a:solidFill>
              <a:srgbClr val="DDE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1B222C"/>
                </a:solidFill>
              </a:rPr>
              <a:t>Collector</a:t>
            </a:r>
          </a:p>
          <a:p>
            <a:pPr algn="ctr"/>
            <a:r>
              <a:rPr sz="1100">
                <a:solidFill>
                  <a:srgbClr val="5A6675"/>
                </a:solidFill>
              </a:rPr>
              <a:t>Go service, 97 RSS/Atom feeds
→ MongoDB, deduplicated</a:t>
            </a:r>
          </a:p>
        </p:txBody>
      </p:sp>
      <p:sp>
        <p:nvSpPr>
          <p:cNvPr id="6" name="Can 5"/>
          <p:cNvSpPr/>
          <p:nvPr/>
        </p:nvSpPr>
        <p:spPr>
          <a:xfrm>
            <a:off x="2688336" y="3108960"/>
            <a:ext cx="146304" cy="182880"/>
          </a:xfrm>
          <a:prstGeom prst="can">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871215" y="2377440"/>
            <a:ext cx="2011680" cy="1737360"/>
          </a:xfrm>
          <a:prstGeom prst="roundRect">
            <a:avLst/>
          </a:prstGeom>
          <a:solidFill>
            <a:srgbClr val="F2F5F8"/>
          </a:solidFill>
          <a:ln>
            <a:solidFill>
              <a:srgbClr val="DDE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1B222C"/>
                </a:solidFill>
              </a:rPr>
              <a:t>Preparation</a:t>
            </a:r>
          </a:p>
          <a:p>
            <a:pPr algn="ctr"/>
            <a:r>
              <a:rPr sz="1100">
                <a:solidFill>
                  <a:srgbClr val="5A6675"/>
                </a:solidFill>
              </a:rPr>
              <a:t>clean · admit · group
near-duplicate stories</a:t>
            </a:r>
          </a:p>
        </p:txBody>
      </p:sp>
      <p:sp>
        <p:nvSpPr>
          <p:cNvPr id="8" name="Can 7"/>
          <p:cNvSpPr/>
          <p:nvPr/>
        </p:nvSpPr>
        <p:spPr>
          <a:xfrm>
            <a:off x="4919471" y="3108960"/>
            <a:ext cx="146304" cy="182880"/>
          </a:xfrm>
          <a:prstGeom prst="can">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102352" y="2377440"/>
            <a:ext cx="2011680" cy="1737360"/>
          </a:xfrm>
          <a:prstGeom prst="roundRect">
            <a:avLst/>
          </a:prstGeom>
          <a:solidFill>
            <a:srgbClr val="F2F5F8"/>
          </a:solidFill>
          <a:ln>
            <a:solidFill>
              <a:srgbClr val="DDE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1B222C"/>
                </a:solidFill>
              </a:rPr>
              <a:t>Snapshot</a:t>
            </a:r>
          </a:p>
          <a:p>
            <a:pPr algn="ctr"/>
            <a:r>
              <a:rPr sz="1100">
                <a:solidFill>
                  <a:srgbClr val="5A6675"/>
                </a:solidFill>
              </a:rPr>
              <a:t>frozen corpus, so every
number can be re-run</a:t>
            </a:r>
          </a:p>
        </p:txBody>
      </p:sp>
      <p:sp>
        <p:nvSpPr>
          <p:cNvPr id="10" name="Can 9"/>
          <p:cNvSpPr/>
          <p:nvPr/>
        </p:nvSpPr>
        <p:spPr>
          <a:xfrm>
            <a:off x="7150608" y="3108960"/>
            <a:ext cx="146304" cy="182880"/>
          </a:xfrm>
          <a:prstGeom prst="can">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33488" y="2377440"/>
            <a:ext cx="2011680" cy="1737360"/>
          </a:xfrm>
          <a:prstGeom prst="roundRect">
            <a:avLst/>
          </a:prstGeom>
          <a:solidFill>
            <a:srgbClr val="F2F5F8"/>
          </a:solidFill>
          <a:ln>
            <a:solidFill>
              <a:srgbClr val="DDE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1B222C"/>
                </a:solidFill>
              </a:rPr>
              <a:t>Model</a:t>
            </a:r>
          </a:p>
          <a:p>
            <a:pPr algn="ctr"/>
            <a:r>
              <a:rPr sz="1100">
                <a:solidFill>
                  <a:srgbClr val="5A6675"/>
                </a:solidFill>
              </a:rPr>
              <a:t>word counts → linear SVM
→ an honest probability</a:t>
            </a:r>
          </a:p>
        </p:txBody>
      </p:sp>
      <p:sp>
        <p:nvSpPr>
          <p:cNvPr id="12" name="Can 11"/>
          <p:cNvSpPr/>
          <p:nvPr/>
        </p:nvSpPr>
        <p:spPr>
          <a:xfrm>
            <a:off x="9381744" y="3108960"/>
            <a:ext cx="146304" cy="182880"/>
          </a:xfrm>
          <a:prstGeom prst="can">
            <a:avLst/>
          </a:prstGeom>
          <a:solidFill>
            <a:srgbClr val="5A6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564624" y="2377440"/>
            <a:ext cx="2011680" cy="1737360"/>
          </a:xfrm>
          <a:prstGeom prst="roundRect">
            <a:avLst/>
          </a:prstGeom>
          <a:solidFill>
            <a:srgbClr val="F2F5F8"/>
          </a:solidFill>
          <a:ln>
            <a:solidFill>
              <a:srgbClr val="DDE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1B222C"/>
                </a:solidFill>
              </a:rPr>
              <a:t>Demo UI</a:t>
            </a:r>
          </a:p>
          <a:p>
            <a:pPr algn="ctr"/>
            <a:r>
              <a:rPr sz="1100">
                <a:solidFill>
                  <a:srgbClr val="5A6675"/>
                </a:solidFill>
              </a:rPr>
              <a:t>Streamlit: classify, explain,
abstain, validate</a:t>
            </a:r>
          </a:p>
        </p:txBody>
      </p:sp>
      <p:sp>
        <p:nvSpPr>
          <p:cNvPr id="14" name="TextBox 13"/>
          <p:cNvSpPr txBox="1"/>
          <p:nvPr/>
        </p:nvSpPr>
        <p:spPr>
          <a:xfrm>
            <a:off x="640080" y="4572000"/>
            <a:ext cx="10881360" cy="548640"/>
          </a:xfrm>
          <a:prstGeom prst="rect">
            <a:avLst/>
          </a:prstGeom>
          <a:noFill/>
        </p:spPr>
        <p:txBody>
          <a:bodyPr wrap="square">
            <a:spAutoFit/>
          </a:bodyPr>
          <a:lstStyle/>
          <a:p>
            <a:pPr algn="l">
              <a:spcAft>
                <a:spcPts val="800"/>
              </a:spcAft>
            </a:pPr>
            <a:r>
              <a:rPr sz="1400" b="0">
                <a:solidFill>
                  <a:srgbClr val="5A6675"/>
                </a:solidFill>
              </a:rPr>
              <a:t>Nothing is deployed. This is a proof of concept. Build it, measure it properly, then decide if it is worth putting anywhere near production.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DATASET</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The data</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920240"/>
          <a:ext cx="10881360" cy="2944368"/>
        </p:xfrm>
        <a:graphic>
          <a:graphicData uri="http://schemas.openxmlformats.org/drawingml/2006/table">
            <a:tbl>
              <a:tblPr firstRow="1" bandRow="1">
                <a:tableStyleId>{5C22544A-7EE6-4342-B048-85BDC9FD1C3A}</a:tableStyleId>
              </a:tblPr>
              <a:tblGrid>
                <a:gridCol w="544068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420624">
                <a:tc>
                  <a:txBody>
                    <a:bodyPr/>
                    <a:lstStyle/>
                    <a:p>
                      <a:pPr algn="l"/>
                      <a:endParaRPr/>
                    </a:p>
                  </a:txBody>
                  <a:tcPr>
                    <a:solidFill>
                      <a:srgbClr val="F2F5F8"/>
                    </a:solidFill>
                  </a:tcPr>
                </a:tc>
                <a:tc>
                  <a:txBody>
                    <a:bodyPr/>
                    <a:lstStyle/>
                    <a:p>
                      <a:pPr algn="r"/>
                      <a:r>
                        <a:rPr sz="1400" b="1">
                          <a:solidFill>
                            <a:srgbClr val="1B222C"/>
                          </a:solidFill>
                        </a:rPr>
                        <a:t>Value</a:t>
                      </a:r>
                    </a:p>
                  </a:txBody>
                  <a:tcPr>
                    <a:solidFill>
                      <a:srgbClr val="F2F5F8"/>
                    </a:solidFill>
                  </a:tcPr>
                </a:tc>
                <a:extLst>
                  <a:ext uri="{0D108BD9-81ED-4DB2-BD59-A6C34878D82A}">
                    <a16:rowId xmlns:a16="http://schemas.microsoft.com/office/drawing/2014/main" val="10000"/>
                  </a:ext>
                </a:extLst>
              </a:tr>
              <a:tr h="420624">
                <a:tc>
                  <a:txBody>
                    <a:bodyPr/>
                    <a:lstStyle/>
                    <a:p>
                      <a:pPr algn="l"/>
                      <a:r>
                        <a:rPr sz="1400" b="0">
                          <a:solidFill>
                            <a:srgbClr val="1B222C"/>
                          </a:solidFill>
                        </a:rPr>
                        <a:t>Articles collected</a:t>
                      </a:r>
                    </a:p>
                  </a:txBody>
                  <a:tcPr>
                    <a:solidFill>
                      <a:srgbClr val="FFFFFF"/>
                    </a:solidFill>
                  </a:tcPr>
                </a:tc>
                <a:tc>
                  <a:txBody>
                    <a:bodyPr/>
                    <a:lstStyle/>
                    <a:p>
                      <a:pPr algn="r"/>
                      <a:r>
                        <a:rPr sz="1400" b="0">
                          <a:solidFill>
                            <a:srgbClr val="1B222C"/>
                          </a:solidFill>
                        </a:rPr>
                        <a:t>14,189 from 40 publishers</a:t>
                      </a:r>
                    </a:p>
                  </a:txBody>
                  <a:tcPr>
                    <a:solidFill>
                      <a:srgbClr val="FFFFFF"/>
                    </a:solidFill>
                  </a:tcPr>
                </a:tc>
                <a:extLst>
                  <a:ext uri="{0D108BD9-81ED-4DB2-BD59-A6C34878D82A}">
                    <a16:rowId xmlns:a16="http://schemas.microsoft.com/office/drawing/2014/main" val="10001"/>
                  </a:ext>
                </a:extLst>
              </a:tr>
              <a:tr h="420624">
                <a:tc>
                  <a:txBody>
                    <a:bodyPr/>
                    <a:lstStyle/>
                    <a:p>
                      <a:pPr algn="l"/>
                      <a:r>
                        <a:rPr sz="1400" b="0">
                          <a:solidFill>
                            <a:srgbClr val="1B222C"/>
                          </a:solidFill>
                        </a:rPr>
                        <a:t>Articles I labelled by hand</a:t>
                      </a:r>
                    </a:p>
                  </a:txBody>
                  <a:tcPr>
                    <a:solidFill>
                      <a:srgbClr val="FFFFFF"/>
                    </a:solidFill>
                  </a:tcPr>
                </a:tc>
                <a:tc>
                  <a:txBody>
                    <a:bodyPr/>
                    <a:lstStyle/>
                    <a:p>
                      <a:pPr algn="r"/>
                      <a:r>
                        <a:rPr sz="1400" b="0">
                          <a:solidFill>
                            <a:srgbClr val="1B222C"/>
                          </a:solidFill>
                        </a:rPr>
                        <a:t>8,001</a:t>
                      </a:r>
                    </a:p>
                  </a:txBody>
                  <a:tcPr>
                    <a:solidFill>
                      <a:srgbClr val="FFFFFF"/>
                    </a:solidFill>
                  </a:tcPr>
                </a:tc>
                <a:extLst>
                  <a:ext uri="{0D108BD9-81ED-4DB2-BD59-A6C34878D82A}">
                    <a16:rowId xmlns:a16="http://schemas.microsoft.com/office/drawing/2014/main" val="10002"/>
                  </a:ext>
                </a:extLst>
              </a:tr>
              <a:tr h="420624">
                <a:tc>
                  <a:txBody>
                    <a:bodyPr/>
                    <a:lstStyle/>
                    <a:p>
                      <a:pPr algn="l"/>
                      <a:r>
                        <a:rPr sz="1400" b="0">
                          <a:solidFill>
                            <a:srgbClr val="1B222C"/>
                          </a:solidFill>
                        </a:rPr>
                        <a:t>Articles where the full body was available</a:t>
                      </a:r>
                    </a:p>
                  </a:txBody>
                  <a:tcPr>
                    <a:solidFill>
                      <a:srgbClr val="FFFFFF"/>
                    </a:solidFill>
                  </a:tcPr>
                </a:tc>
                <a:tc>
                  <a:txBody>
                    <a:bodyPr/>
                    <a:lstStyle/>
                    <a:p>
                      <a:pPr algn="r"/>
                      <a:r>
                        <a:rPr sz="1400" b="0">
                          <a:solidFill>
                            <a:srgbClr val="1B222C"/>
                          </a:solidFill>
                        </a:rPr>
                        <a:t>94.3%</a:t>
                      </a:r>
                    </a:p>
                  </a:txBody>
                  <a:tcPr>
                    <a:solidFill>
                      <a:srgbClr val="FFFFFF"/>
                    </a:solidFill>
                  </a:tcPr>
                </a:tc>
                <a:extLst>
                  <a:ext uri="{0D108BD9-81ED-4DB2-BD59-A6C34878D82A}">
                    <a16:rowId xmlns:a16="http://schemas.microsoft.com/office/drawing/2014/main" val="10003"/>
                  </a:ext>
                </a:extLst>
              </a:tr>
              <a:tr h="420624">
                <a:tc>
                  <a:txBody>
                    <a:bodyPr/>
                    <a:lstStyle/>
                    <a:p>
                      <a:pPr algn="l"/>
                      <a:r>
                        <a:rPr sz="1400" b="0">
                          <a:solidFill>
                            <a:srgbClr val="1B222C"/>
                          </a:solidFill>
                        </a:rPr>
                        <a:t>Biggest class vs smallest class</a:t>
                      </a:r>
                    </a:p>
                  </a:txBody>
                  <a:tcPr>
                    <a:solidFill>
                      <a:srgbClr val="FFFFFF"/>
                    </a:solidFill>
                  </a:tcPr>
                </a:tc>
                <a:tc>
                  <a:txBody>
                    <a:bodyPr/>
                    <a:lstStyle/>
                    <a:p>
                      <a:pPr algn="r"/>
                      <a:r>
                        <a:rPr sz="1400" b="0">
                          <a:solidFill>
                            <a:srgbClr val="1B222C"/>
                          </a:solidFill>
                        </a:rPr>
                        <a:t>6.7 : 1</a:t>
                      </a:r>
                    </a:p>
                  </a:txBody>
                  <a:tcPr>
                    <a:solidFill>
                      <a:srgbClr val="FFFFFF"/>
                    </a:solidFill>
                  </a:tcPr>
                </a:tc>
                <a:extLst>
                  <a:ext uri="{0D108BD9-81ED-4DB2-BD59-A6C34878D82A}">
                    <a16:rowId xmlns:a16="http://schemas.microsoft.com/office/drawing/2014/main" val="10004"/>
                  </a:ext>
                </a:extLst>
              </a:tr>
              <a:tr h="420624">
                <a:tc>
                  <a:txBody>
                    <a:bodyPr/>
                    <a:lstStyle/>
                    <a:p>
                      <a:pPr algn="l"/>
                      <a:r>
                        <a:rPr sz="1400" b="0">
                          <a:solidFill>
                            <a:srgbClr val="1B222C"/>
                          </a:solidFill>
                        </a:rPr>
                        <a:t>Train / validation / test</a:t>
                      </a:r>
                    </a:p>
                  </a:txBody>
                  <a:tcPr>
                    <a:solidFill>
                      <a:srgbClr val="FFFFFF"/>
                    </a:solidFill>
                  </a:tcPr>
                </a:tc>
                <a:tc>
                  <a:txBody>
                    <a:bodyPr/>
                    <a:lstStyle/>
                    <a:p>
                      <a:pPr algn="r"/>
                      <a:r>
                        <a:rPr sz="1400" b="0">
                          <a:solidFill>
                            <a:srgbClr val="1B222C"/>
                          </a:solidFill>
                        </a:rPr>
                        <a:t>5,487 / 1,120 / 1,159</a:t>
                      </a:r>
                    </a:p>
                  </a:txBody>
                  <a:tcPr>
                    <a:solidFill>
                      <a:srgbClr val="FFFFFF"/>
                    </a:solidFill>
                  </a:tcPr>
                </a:tc>
                <a:extLst>
                  <a:ext uri="{0D108BD9-81ED-4DB2-BD59-A6C34878D82A}">
                    <a16:rowId xmlns:a16="http://schemas.microsoft.com/office/drawing/2014/main" val="10005"/>
                  </a:ext>
                </a:extLst>
              </a:tr>
              <a:tr h="420624">
                <a:tc>
                  <a:txBody>
                    <a:bodyPr/>
                    <a:lstStyle/>
                    <a:p>
                      <a:pPr algn="l"/>
                      <a:r>
                        <a:rPr sz="1400" b="0">
                          <a:solidFill>
                            <a:srgbClr val="1B222C"/>
                          </a:solidFill>
                        </a:rPr>
                        <a:t>Thrown out as not-an-article</a:t>
                      </a:r>
                    </a:p>
                  </a:txBody>
                  <a:tcPr>
                    <a:solidFill>
                      <a:srgbClr val="FFFFFF"/>
                    </a:solidFill>
                  </a:tcPr>
                </a:tc>
                <a:tc>
                  <a:txBody>
                    <a:bodyPr/>
                    <a:lstStyle/>
                    <a:p>
                      <a:pPr algn="r"/>
                      <a:r>
                        <a:rPr sz="1400" b="0">
                          <a:solidFill>
                            <a:srgbClr val="1B222C"/>
                          </a:solidFill>
                        </a:rPr>
                        <a:t>4.1% (582)</a:t>
                      </a:r>
                    </a:p>
                  </a:txBody>
                  <a:tcPr>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640080" y="5120640"/>
            <a:ext cx="10881360" cy="548640"/>
          </a:xfrm>
          <a:prstGeom prst="rect">
            <a:avLst/>
          </a:prstGeom>
          <a:noFill/>
        </p:spPr>
        <p:txBody>
          <a:bodyPr wrap="square">
            <a:spAutoFit/>
          </a:bodyPr>
          <a:lstStyle/>
          <a:p>
            <a:pPr algn="l">
              <a:spcAft>
                <a:spcPts val="800"/>
              </a:spcAft>
            </a:pPr>
            <a:r>
              <a:rPr sz="1400" b="0">
                <a:solidFill>
                  <a:srgbClr val="5A6675"/>
                </a:solidFill>
              </a:rPr>
              <a:t>Random sampling was not an option. War and conflict stories are about 1.7% of Indian news, so getting 150 of them by random draw means reading about 9,000 articles. I wrote a sampler that goes looking for the rare topics instead, and ran three rounds of labelling.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METHOD</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Cleaning the data is where the accuracy came from</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10881360" cy="4663440"/>
          </a:xfrm>
          <a:prstGeom prst="rect">
            <a:avLst/>
          </a:prstGeom>
          <a:noFill/>
        </p:spPr>
        <p:txBody>
          <a:bodyPr wrap="square">
            <a:spAutoFit/>
          </a:bodyPr>
          <a:lstStyle/>
          <a:p>
            <a:pPr>
              <a:spcAft>
                <a:spcPts val="1200"/>
              </a:spcAft>
            </a:pPr>
            <a:r>
              <a:rPr sz="1800">
                <a:solidFill>
                  <a:srgbClr val="1B222C"/>
                </a:solidFill>
              </a:rPr>
              <a:t>Every paper repeats the same lines. “Story continues below this ad” shows up in 75% of one publisher's articles. I found 355 such lines across 47 sources and removed them.</a:t>
            </a:r>
          </a:p>
          <a:p>
            <a:pPr lvl="1">
              <a:spcAft>
                <a:spcPts val="600"/>
              </a:spcAft>
            </a:pPr>
            <a:r>
              <a:rPr sz="1500">
                <a:solidFill>
                  <a:srgbClr val="5A6675"/>
                </a:solidFill>
              </a:rPr>
              <a:t>Author bios are the dangerous ones. A cricket reporter's bio sitting at the bottom of a business story pulls the whole article towards sport.</a:t>
            </a:r>
          </a:p>
          <a:p>
            <a:pPr>
              <a:spcAft>
                <a:spcPts val="1200"/>
              </a:spcAft>
            </a:pPr>
            <a:r>
              <a:rPr sz="1800">
                <a:solidFill>
                  <a:srgbClr val="1B222C"/>
                </a:solidFill>
              </a:rPr>
              <a:t>9 rules to throw out things that are not really articles: photo galleries, weather bulletins, “Today's headlines for school assembly”. That removed 4.1%.</a:t>
            </a:r>
          </a:p>
          <a:p>
            <a:pPr>
              <a:spcAft>
                <a:spcPts val="1200"/>
              </a:spcAft>
            </a:pPr>
            <a:r>
              <a:rPr sz="1800">
                <a:solidFill>
                  <a:srgbClr val="1B222C"/>
                </a:solidFill>
              </a:rPr>
              <a:t>The same PTI copy runs in five papers. I group those together, so a copy of a training article can never appear in the test set.</a:t>
            </a:r>
          </a:p>
          <a:p>
            <a:pPr lvl="1">
              <a:spcAft>
                <a:spcPts val="600"/>
              </a:spcAft>
            </a:pPr>
            <a:r>
              <a:rPr sz="1500">
                <a:solidFill>
                  <a:srgbClr val="5A6675"/>
                </a:solidFill>
              </a:rPr>
              <a:t>If I skip this, the model sees the answer during training and my score looks better than it really is. Grouping on full bodies catches 41% more copies than grouping on headlines.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CHAPTER 07 §1</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Why I do not report accuracy</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280160" y="1737360"/>
            <a:ext cx="9601200" cy="1225296"/>
          </a:xfrm>
          <a:prstGeom prst="roundRect">
            <a:avLst/>
          </a:prstGeom>
          <a:solidFill>
            <a:srgbClr val="F2F5F8"/>
          </a:solidFill>
          <a:ln>
            <a:solidFill>
              <a:srgbClr val="DDE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1B222C"/>
                </a:solidFill>
                <a:latin typeface="Consolas"/>
              </a:rPr>
              <a:t>Accuracy = (TP + TN) / (TP + TN + FP + FN)</a:t>
            </a:r>
          </a:p>
          <a:p>
            <a:pPr algn="ctr"/>
            <a:r>
              <a:rPr sz="1700" b="1">
                <a:solidFill>
                  <a:srgbClr val="1B222C"/>
                </a:solidFill>
                <a:latin typeface="Consolas"/>
              </a:rPr>
              <a:t>macro-F1 = (F1 of topic 1 + F1 of topic 2 + ... + F1 of topic 13) / 13</a:t>
            </a:r>
          </a:p>
        </p:txBody>
      </p:sp>
      <p:graphicFrame>
        <p:nvGraphicFramePr>
          <p:cNvPr id="6" name="Table 5"/>
          <p:cNvGraphicFramePr>
            <a:graphicFrameLocks noGrp="1"/>
          </p:cNvGraphicFramePr>
          <p:nvPr/>
        </p:nvGraphicFramePr>
        <p:xfrm>
          <a:off x="640080" y="3108960"/>
          <a:ext cx="10881360" cy="137160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457200">
                <a:tc>
                  <a:txBody>
                    <a:bodyPr/>
                    <a:lstStyle/>
                    <a:p>
                      <a:pPr algn="l"/>
                      <a:r>
                        <a:rPr sz="1600" b="1">
                          <a:solidFill>
                            <a:srgbClr val="1B222C"/>
                          </a:solidFill>
                        </a:rPr>
                        <a:t>On the 1,120 validation articles</a:t>
                      </a:r>
                    </a:p>
                  </a:txBody>
                  <a:tcPr>
                    <a:solidFill>
                      <a:srgbClr val="F2F5F8"/>
                    </a:solidFill>
                  </a:tcPr>
                </a:tc>
                <a:tc>
                  <a:txBody>
                    <a:bodyPr/>
                    <a:lstStyle/>
                    <a:p>
                      <a:pPr algn="r"/>
                      <a:r>
                        <a:rPr sz="1600" b="1">
                          <a:solidFill>
                            <a:srgbClr val="1B222C"/>
                          </a:solidFill>
                        </a:rPr>
                        <a:t>accuracy</a:t>
                      </a:r>
                    </a:p>
                  </a:txBody>
                  <a:tcPr>
                    <a:solidFill>
                      <a:srgbClr val="F2F5F8"/>
                    </a:solidFill>
                  </a:tcPr>
                </a:tc>
                <a:tc>
                  <a:txBody>
                    <a:bodyPr/>
                    <a:lstStyle/>
                    <a:p>
                      <a:pPr algn="r"/>
                      <a:r>
                        <a:rPr sz="1600" b="1">
                          <a:solidFill>
                            <a:srgbClr val="1B222C"/>
                          </a:solidFill>
                        </a:rPr>
                        <a:t>macro-F1</a:t>
                      </a:r>
                    </a:p>
                  </a:txBody>
                  <a:tcPr>
                    <a:solidFill>
                      <a:srgbClr val="F2F5F8"/>
                    </a:solidFill>
                  </a:tcPr>
                </a:tc>
                <a:extLst>
                  <a:ext uri="{0D108BD9-81ED-4DB2-BD59-A6C34878D82A}">
                    <a16:rowId xmlns:a16="http://schemas.microsoft.com/office/drawing/2014/main" val="10000"/>
                  </a:ext>
                </a:extLst>
              </a:tr>
              <a:tr h="457200">
                <a:tc>
                  <a:txBody>
                    <a:bodyPr/>
                    <a:lstStyle/>
                    <a:p>
                      <a:pPr algn="l"/>
                      <a:r>
                        <a:rPr sz="1600" b="0">
                          <a:solidFill>
                            <a:srgbClr val="1B222C"/>
                          </a:solidFill>
                        </a:rPr>
                        <a:t>one line of code: always answer “politics”</a:t>
                      </a:r>
                    </a:p>
                  </a:txBody>
                  <a:tcPr>
                    <a:solidFill>
                      <a:srgbClr val="FFFFFF"/>
                    </a:solidFill>
                  </a:tcPr>
                </a:tc>
                <a:tc>
                  <a:txBody>
                    <a:bodyPr/>
                    <a:lstStyle/>
                    <a:p>
                      <a:pPr algn="r"/>
                      <a:r>
                        <a:rPr sz="1600" b="0">
                          <a:solidFill>
                            <a:srgbClr val="1B222C"/>
                          </a:solidFill>
                        </a:rPr>
                        <a:t>19.0%</a:t>
                      </a:r>
                    </a:p>
                  </a:txBody>
                  <a:tcPr>
                    <a:solidFill>
                      <a:srgbClr val="FFFFFF"/>
                    </a:solidFill>
                  </a:tcPr>
                </a:tc>
                <a:tc>
                  <a:txBody>
                    <a:bodyPr/>
                    <a:lstStyle/>
                    <a:p>
                      <a:pPr algn="r"/>
                      <a:r>
                        <a:rPr sz="1600" b="0">
                          <a:solidFill>
                            <a:srgbClr val="1B222C"/>
                          </a:solidFill>
                        </a:rPr>
                        <a:t>0.025</a:t>
                      </a:r>
                    </a:p>
                  </a:txBody>
                  <a:tcPr>
                    <a:solidFill>
                      <a:srgbClr val="FFFFFF"/>
                    </a:solidFill>
                  </a:tcPr>
                </a:tc>
                <a:extLst>
                  <a:ext uri="{0D108BD9-81ED-4DB2-BD59-A6C34878D82A}">
                    <a16:rowId xmlns:a16="http://schemas.microsoft.com/office/drawing/2014/main" val="10001"/>
                  </a:ext>
                </a:extLst>
              </a:tr>
              <a:tr h="457200">
                <a:tc>
                  <a:txBody>
                    <a:bodyPr/>
                    <a:lstStyle/>
                    <a:p>
                      <a:pPr algn="l"/>
                      <a:r>
                        <a:rPr sz="1600" b="1">
                          <a:solidFill>
                            <a:srgbClr val="C0392B"/>
                          </a:solidFill>
                        </a:rPr>
                        <a:t>my model</a:t>
                      </a:r>
                    </a:p>
                  </a:txBody>
                  <a:tcPr>
                    <a:solidFill>
                      <a:srgbClr val="FFFFFF"/>
                    </a:solidFill>
                  </a:tcPr>
                </a:tc>
                <a:tc>
                  <a:txBody>
                    <a:bodyPr/>
                    <a:lstStyle/>
                    <a:p>
                      <a:pPr algn="r"/>
                      <a:r>
                        <a:rPr sz="1600" b="1">
                          <a:solidFill>
                            <a:srgbClr val="C0392B"/>
                          </a:solidFill>
                        </a:rPr>
                        <a:t>79.5%</a:t>
                      </a:r>
                    </a:p>
                  </a:txBody>
                  <a:tcPr>
                    <a:solidFill>
                      <a:srgbClr val="FFFFFF"/>
                    </a:solidFill>
                  </a:tcPr>
                </a:tc>
                <a:tc>
                  <a:txBody>
                    <a:bodyPr/>
                    <a:lstStyle/>
                    <a:p>
                      <a:pPr algn="r"/>
                      <a:r>
                        <a:rPr sz="1600" b="1">
                          <a:solidFill>
                            <a:srgbClr val="C0392B"/>
                          </a:solidFill>
                        </a:rPr>
                        <a:t>0.769</a:t>
                      </a:r>
                    </a:p>
                  </a:txBody>
                  <a:tcPr>
                    <a:solidFill>
                      <a:srgbClr val="FFFFFF"/>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640080" y="4572000"/>
            <a:ext cx="10881360" cy="1920240"/>
          </a:xfrm>
          <a:prstGeom prst="rect">
            <a:avLst/>
          </a:prstGeom>
          <a:noFill/>
        </p:spPr>
        <p:txBody>
          <a:bodyPr wrap="square">
            <a:spAutoFit/>
          </a:bodyPr>
          <a:lstStyle/>
          <a:p>
            <a:pPr>
              <a:spcAft>
                <a:spcPts val="1200"/>
              </a:spcAft>
            </a:pPr>
            <a:r>
              <a:rPr sz="1500">
                <a:solidFill>
                  <a:srgbClr val="1B222C"/>
                </a:solidFill>
              </a:rPr>
              <a:t>Politics is the biggest topic. A model that always answers politics scores 19% and finds nothing in the other 12 topics. Same trick as the guard who waves everybody through.</a:t>
            </a:r>
          </a:p>
          <a:p>
            <a:pPr>
              <a:spcAft>
                <a:spcPts val="1200"/>
              </a:spcAft>
            </a:pPr>
            <a:r>
              <a:rPr sz="1500">
                <a:solidFill>
                  <a:srgbClr val="1B222C"/>
                </a:solidFill>
              </a:rPr>
              <a:t>Accuracy here is exactly micro-F1, so it just repeats the confusion matrix.</a:t>
            </a:r>
          </a:p>
          <a:p>
            <a:pPr>
              <a:spcAft>
                <a:spcPts val="1200"/>
              </a:spcAft>
            </a:pPr>
            <a:r>
              <a:rPr sz="1500">
                <a:solidFill>
                  <a:srgbClr val="1B222C"/>
                </a:solidFill>
              </a:rPr>
              <a:t>macro-F1 gives all 13 topics an equal vote. Society and lifestyle with 66 articles counts as much as politics with 213. That is why I use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CHAPTER 07 §2</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The confusion matrix, all 13 topics</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onfusion.png"/>
          <p:cNvPicPr>
            <a:picLocks noChangeAspect="1"/>
          </p:cNvPicPr>
          <p:nvPr/>
        </p:nvPicPr>
        <p:blipFill>
          <a:blip r:embed="rId2"/>
          <a:stretch>
            <a:fillRect/>
          </a:stretch>
        </p:blipFill>
        <p:spPr>
          <a:xfrm>
            <a:off x="731520" y="1691640"/>
            <a:ext cx="6035040" cy="4992563"/>
          </a:xfrm>
          <a:prstGeom prst="rect">
            <a:avLst/>
          </a:prstGeom>
        </p:spPr>
      </p:pic>
      <p:sp>
        <p:nvSpPr>
          <p:cNvPr id="6" name="TextBox 5"/>
          <p:cNvSpPr txBox="1"/>
          <p:nvPr/>
        </p:nvSpPr>
        <p:spPr>
          <a:xfrm>
            <a:off x="7040880" y="1828800"/>
            <a:ext cx="4480560" cy="4663440"/>
          </a:xfrm>
          <a:prstGeom prst="rect">
            <a:avLst/>
          </a:prstGeom>
          <a:noFill/>
        </p:spPr>
        <p:txBody>
          <a:bodyPr wrap="square">
            <a:spAutoFit/>
          </a:bodyPr>
          <a:lstStyle/>
          <a:p>
            <a:pPr>
              <a:spcAft>
                <a:spcPts val="1200"/>
              </a:spcAft>
            </a:pPr>
            <a:r>
              <a:rPr sz="1500">
                <a:solidFill>
                  <a:srgbClr val="1B222C"/>
                </a:solidFill>
              </a:rPr>
              <a:t>Rows are the true topic. Columns are what my model said. The diagonal is what it got right.</a:t>
            </a:r>
          </a:p>
          <a:p>
            <a:pPr>
              <a:spcAft>
                <a:spcPts val="1200"/>
              </a:spcAft>
            </a:pPr>
            <a:r>
              <a:rPr sz="1500">
                <a:solidFill>
                  <a:srgbClr val="1B222C"/>
                </a:solidFill>
              </a:rPr>
              <a:t>Politics is the dustbin. It wrongly takes 13 business stories, 13 society stories and 10 conflict stories.</a:t>
            </a:r>
          </a:p>
          <a:p>
            <a:pPr lvl="1">
              <a:spcAft>
                <a:spcPts val="600"/>
              </a:spcAft>
            </a:pPr>
            <a:r>
              <a:rPr sz="1200">
                <a:solidFill>
                  <a:srgbClr val="5A6675"/>
                </a:solidFill>
              </a:rPr>
              <a:t>Fair enough, honestly. A story about the budget IS both business and politics. My labellers argued about the same pairs.</a:t>
            </a:r>
          </a:p>
          <a:p>
            <a:pPr>
              <a:spcAft>
                <a:spcPts val="1200"/>
              </a:spcAft>
            </a:pPr>
            <a:r>
              <a:rPr sz="1500">
                <a:solidFill>
                  <a:srgbClr val="1B222C"/>
                </a:solidFill>
              </a:rPr>
              <a:t>Society and lifestyle is the weak row. Only 25 of its 66 articles land on the diagonal. The rest scatter everywhere.</a:t>
            </a:r>
          </a:p>
          <a:p>
            <a:pPr>
              <a:spcAft>
                <a:spcPts val="1200"/>
              </a:spcAft>
            </a:pPr>
            <a:r>
              <a:rPr sz="1500">
                <a:solidFill>
                  <a:srgbClr val="1B222C"/>
                </a:solidFill>
              </a:rPr>
              <a:t>Sport is the clean row: 89 out of 91. Cricket and football vocabulary does not look like anything else.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CHAPTER 07 §3</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Taking one topic out of that matrix</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783080"/>
          <a:ext cx="10881360" cy="137160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457200">
                <a:tc>
                  <a:txBody>
                    <a:bodyPr/>
                    <a:lstStyle/>
                    <a:p>
                      <a:pPr algn="l"/>
                      <a:r>
                        <a:rPr sz="1600" b="1">
                          <a:solidFill>
                            <a:srgbClr val="1B222C"/>
                          </a:solidFill>
                        </a:rPr>
                        <a:t>conflict / war = the positive class</a:t>
                      </a:r>
                    </a:p>
                  </a:txBody>
                  <a:tcPr>
                    <a:solidFill>
                      <a:srgbClr val="F2F5F8"/>
                    </a:solidFill>
                  </a:tcPr>
                </a:tc>
                <a:tc>
                  <a:txBody>
                    <a:bodyPr/>
                    <a:lstStyle/>
                    <a:p>
                      <a:pPr algn="r"/>
                      <a:r>
                        <a:rPr sz="1600" b="1">
                          <a:solidFill>
                            <a:srgbClr val="1B222C"/>
                          </a:solidFill>
                        </a:rPr>
                        <a:t>model said conflict</a:t>
                      </a:r>
                    </a:p>
                  </a:txBody>
                  <a:tcPr>
                    <a:solidFill>
                      <a:srgbClr val="F2F5F8"/>
                    </a:solidFill>
                  </a:tcPr>
                </a:tc>
                <a:tc>
                  <a:txBody>
                    <a:bodyPr/>
                    <a:lstStyle/>
                    <a:p>
                      <a:pPr algn="r"/>
                      <a:r>
                        <a:rPr sz="1600" b="1">
                          <a:solidFill>
                            <a:srgbClr val="1B222C"/>
                          </a:solidFill>
                        </a:rPr>
                        <a:t>model said something else</a:t>
                      </a:r>
                    </a:p>
                  </a:txBody>
                  <a:tcPr>
                    <a:solidFill>
                      <a:srgbClr val="F2F5F8"/>
                    </a:solidFill>
                  </a:tcPr>
                </a:tc>
                <a:extLst>
                  <a:ext uri="{0D108BD9-81ED-4DB2-BD59-A6C34878D82A}">
                    <a16:rowId xmlns:a16="http://schemas.microsoft.com/office/drawing/2014/main" val="10000"/>
                  </a:ext>
                </a:extLst>
              </a:tr>
              <a:tr h="457200">
                <a:tc>
                  <a:txBody>
                    <a:bodyPr/>
                    <a:lstStyle/>
                    <a:p>
                      <a:pPr algn="l"/>
                      <a:r>
                        <a:rPr sz="1600" b="0">
                          <a:solidFill>
                            <a:srgbClr val="1B222C"/>
                          </a:solidFill>
                        </a:rPr>
                        <a:t>really conflict</a:t>
                      </a:r>
                    </a:p>
                  </a:txBody>
                  <a:tcPr>
                    <a:solidFill>
                      <a:srgbClr val="FFFFFF"/>
                    </a:solidFill>
                  </a:tcPr>
                </a:tc>
                <a:tc>
                  <a:txBody>
                    <a:bodyPr/>
                    <a:lstStyle/>
                    <a:p>
                      <a:pPr algn="r"/>
                      <a:r>
                        <a:rPr sz="1600" b="0">
                          <a:solidFill>
                            <a:srgbClr val="1B222C"/>
                          </a:solidFill>
                        </a:rPr>
                        <a:t>TP = 34</a:t>
                      </a:r>
                    </a:p>
                  </a:txBody>
                  <a:tcPr>
                    <a:solidFill>
                      <a:srgbClr val="FFFFFF"/>
                    </a:solidFill>
                  </a:tcPr>
                </a:tc>
                <a:tc>
                  <a:txBody>
                    <a:bodyPr/>
                    <a:lstStyle/>
                    <a:p>
                      <a:pPr algn="r"/>
                      <a:r>
                        <a:rPr sz="1600" b="0">
                          <a:solidFill>
                            <a:srgbClr val="1B222C"/>
                          </a:solidFill>
                        </a:rPr>
                        <a:t>FN = 21</a:t>
                      </a:r>
                    </a:p>
                  </a:txBody>
                  <a:tcPr>
                    <a:solidFill>
                      <a:srgbClr val="FFFFFF"/>
                    </a:solidFill>
                  </a:tcPr>
                </a:tc>
                <a:extLst>
                  <a:ext uri="{0D108BD9-81ED-4DB2-BD59-A6C34878D82A}">
                    <a16:rowId xmlns:a16="http://schemas.microsoft.com/office/drawing/2014/main" val="10001"/>
                  </a:ext>
                </a:extLst>
              </a:tr>
              <a:tr h="457200">
                <a:tc>
                  <a:txBody>
                    <a:bodyPr/>
                    <a:lstStyle/>
                    <a:p>
                      <a:pPr algn="l"/>
                      <a:r>
                        <a:rPr sz="1600" b="0">
                          <a:solidFill>
                            <a:srgbClr val="1B222C"/>
                          </a:solidFill>
                        </a:rPr>
                        <a:t>really something else</a:t>
                      </a:r>
                    </a:p>
                  </a:txBody>
                  <a:tcPr>
                    <a:solidFill>
                      <a:srgbClr val="FFFFFF"/>
                    </a:solidFill>
                  </a:tcPr>
                </a:tc>
                <a:tc>
                  <a:txBody>
                    <a:bodyPr/>
                    <a:lstStyle/>
                    <a:p>
                      <a:pPr algn="r"/>
                      <a:r>
                        <a:rPr sz="1600" b="0">
                          <a:solidFill>
                            <a:srgbClr val="1B222C"/>
                          </a:solidFill>
                        </a:rPr>
                        <a:t>FP = 5</a:t>
                      </a:r>
                    </a:p>
                  </a:txBody>
                  <a:tcPr>
                    <a:solidFill>
                      <a:srgbClr val="FFFFFF"/>
                    </a:solidFill>
                  </a:tcPr>
                </a:tc>
                <a:tc>
                  <a:txBody>
                    <a:bodyPr/>
                    <a:lstStyle/>
                    <a:p>
                      <a:pPr algn="r"/>
                      <a:r>
                        <a:rPr sz="1600" b="0">
                          <a:solidFill>
                            <a:srgbClr val="1B222C"/>
                          </a:solidFill>
                        </a:rPr>
                        <a:t>TN = 1,060</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ounded Rectangle 5"/>
          <p:cNvSpPr/>
          <p:nvPr/>
        </p:nvSpPr>
        <p:spPr>
          <a:xfrm>
            <a:off x="1005840" y="3291840"/>
            <a:ext cx="10149840" cy="1225296"/>
          </a:xfrm>
          <a:prstGeom prst="roundRect">
            <a:avLst/>
          </a:prstGeom>
          <a:solidFill>
            <a:srgbClr val="F2F5F8"/>
          </a:solidFill>
          <a:ln>
            <a:solidFill>
              <a:srgbClr val="DDE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1B222C"/>
                </a:solidFill>
                <a:latin typeface="Consolas"/>
              </a:rPr>
              <a:t>Precision = TP/(TP+FP) = 34/39 = 0.87        Recall = TP/(TP+FN) = 34/55 = 0.62</a:t>
            </a:r>
          </a:p>
          <a:p>
            <a:pPr algn="ctr"/>
            <a:r>
              <a:rPr sz="1700" b="1">
                <a:solidFill>
                  <a:srgbClr val="1B222C"/>
                </a:solidFill>
                <a:latin typeface="Consolas"/>
              </a:rPr>
              <a:t>F1 = 2PR/(P+R) = 0.72</a:t>
            </a:r>
          </a:p>
        </p:txBody>
      </p:sp>
      <p:sp>
        <p:nvSpPr>
          <p:cNvPr id="7" name="TextBox 6"/>
          <p:cNvSpPr txBox="1"/>
          <p:nvPr/>
        </p:nvSpPr>
        <p:spPr>
          <a:xfrm>
            <a:off x="640080" y="4663440"/>
            <a:ext cx="10881360" cy="1828800"/>
          </a:xfrm>
          <a:prstGeom prst="rect">
            <a:avLst/>
          </a:prstGeom>
          <a:noFill/>
        </p:spPr>
        <p:txBody>
          <a:bodyPr wrap="square">
            <a:spAutoFit/>
          </a:bodyPr>
          <a:lstStyle/>
          <a:p>
            <a:pPr>
              <a:spcAft>
                <a:spcPts val="1200"/>
              </a:spcAft>
            </a:pPr>
            <a:r>
              <a:rPr sz="1500">
                <a:solidFill>
                  <a:srgbClr val="1B222C"/>
                </a:solidFill>
              </a:rPr>
              <a:t>So when it says conflict, it is right 87% of the time. But it only finds 62% of the conflict stories. Too shy.</a:t>
            </a:r>
          </a:p>
          <a:p>
            <a:pPr>
              <a:spcAft>
                <a:spcPts val="1200"/>
              </a:spcAft>
            </a:pPr>
            <a:r>
              <a:rPr sz="1500">
                <a:solidFill>
                  <a:srgbClr val="1B222C"/>
                </a:solidFill>
              </a:rPr>
              <a:t>Education is the opposite: precision 0.63, recall 0.83. Too eager. It shouts education at any story that mentions a school.</a:t>
            </a:r>
          </a:p>
          <a:p>
            <a:pPr>
              <a:spcAft>
                <a:spcPts val="1200"/>
              </a:spcAft>
            </a:pPr>
            <a:r>
              <a:rPr sz="1500">
                <a:solidFill>
                  <a:srgbClr val="1B222C"/>
                </a:solidFill>
              </a:rPr>
              <a:t>Both land at F1 near 0.72. One number, two completely different problems.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VALIDATION</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How I stopped myself from cheating</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10881360" cy="4663440"/>
          </a:xfrm>
          <a:prstGeom prst="rect">
            <a:avLst/>
          </a:prstGeom>
          <a:noFill/>
        </p:spPr>
        <p:txBody>
          <a:bodyPr wrap="square">
            <a:spAutoFit/>
          </a:bodyPr>
          <a:lstStyle/>
          <a:p>
            <a:pPr>
              <a:spcAft>
                <a:spcPts val="1200"/>
              </a:spcAft>
            </a:pPr>
            <a:r>
              <a:rPr sz="1800">
                <a:solidFill>
                  <a:srgbClr val="1B222C"/>
                </a:solidFill>
              </a:rPr>
              <a:t>Train, validation and test are split by time. Every test article was collected after every training article, like a real deployment.</a:t>
            </a:r>
          </a:p>
          <a:p>
            <a:pPr>
              <a:spcAft>
                <a:spcPts val="1200"/>
              </a:spcAft>
            </a:pPr>
            <a:r>
              <a:rPr sz="1800">
                <a:solidFill>
                  <a:srgbClr val="1B222C"/>
                </a:solidFill>
              </a:rPr>
              <a:t>No story group is split across two sets, so the same PTI copy cannot be in both training and test.</a:t>
            </a:r>
          </a:p>
          <a:p>
            <a:pPr>
              <a:spcAft>
                <a:spcPts val="1200"/>
              </a:spcAft>
            </a:pPr>
            <a:r>
              <a:rPr sz="1800">
                <a:solidFill>
                  <a:srgbClr val="1B222C"/>
                </a:solidFill>
              </a:rPr>
              <a:t>Error bars come from bootstrap resampling. Same bootstrap as Chapter 06 §3.1, just used for confidence intervals instead of for bagging.</a:t>
            </a:r>
          </a:p>
          <a:p>
            <a:pPr>
              <a:spcAft>
                <a:spcPts val="1200"/>
              </a:spcAft>
            </a:pPr>
            <a:r>
              <a:rPr sz="1800">
                <a:solidFill>
                  <a:srgbClr val="1B222C"/>
                </a:solidFill>
              </a:rPr>
              <a:t>I never compare two models by subtracting their scores. On 1,120 articles a gap of 0.02 can easily be luck, so I use a paired test on the articles where the two models actually disagree.</a:t>
            </a:r>
          </a:p>
          <a:p>
            <a:pPr>
              <a:spcAft>
                <a:spcPts val="1200"/>
              </a:spcAft>
            </a:pPr>
            <a:r>
              <a:rPr sz="1800">
                <a:solidFill>
                  <a:srgbClr val="1B222C"/>
                </a:solidFill>
              </a:rPr>
              <a:t>Two publishers held out on every run: The Hindu and The Guardian, each time refitting the model without that publisher.</a:t>
            </a:r>
          </a:p>
          <a:p>
            <a:pPr>
              <a:spcAft>
                <a:spcPts val="1200"/>
              </a:spcAft>
            </a:pPr>
            <a:r>
              <a:rPr sz="1800">
                <a:solidFill>
                  <a:srgbClr val="1B222C"/>
                </a:solidFill>
              </a:rPr>
              <a:t>The test set was opened once, at the very end, after the model was frozen.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RESULTS</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I started with the models we studied</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adder.png"/>
          <p:cNvPicPr>
            <a:picLocks noChangeAspect="1"/>
          </p:cNvPicPr>
          <p:nvPr/>
        </p:nvPicPr>
        <p:blipFill>
          <a:blip r:embed="rId2"/>
          <a:stretch>
            <a:fillRect/>
          </a:stretch>
        </p:blipFill>
        <p:spPr>
          <a:xfrm>
            <a:off x="731520" y="1737360"/>
            <a:ext cx="6675120" cy="2742937"/>
          </a:xfrm>
          <a:prstGeom prst="rect">
            <a:avLst/>
          </a:prstGeom>
        </p:spPr>
      </p:pic>
      <p:sp>
        <p:nvSpPr>
          <p:cNvPr id="6" name="TextBox 5"/>
          <p:cNvSpPr txBox="1"/>
          <p:nvPr/>
        </p:nvSpPr>
        <p:spPr>
          <a:xfrm>
            <a:off x="7680960" y="1920240"/>
            <a:ext cx="3931920" cy="4572000"/>
          </a:xfrm>
          <a:prstGeom prst="rect">
            <a:avLst/>
          </a:prstGeom>
          <a:noFill/>
        </p:spPr>
        <p:txBody>
          <a:bodyPr wrap="square">
            <a:spAutoFit/>
          </a:bodyPr>
          <a:lstStyle/>
          <a:p>
            <a:pPr>
              <a:spcAft>
                <a:spcPts val="1200"/>
              </a:spcAft>
            </a:pPr>
            <a:r>
              <a:rPr sz="1500">
                <a:solidFill>
                  <a:srgbClr val="1B222C"/>
                </a:solidFill>
              </a:rPr>
              <a:t>Logistic regression first, because that is the classifier Chapter 03 builds. It reached 0.752.</a:t>
            </a:r>
          </a:p>
          <a:p>
            <a:pPr>
              <a:spcAft>
                <a:spcPts val="1200"/>
              </a:spcAft>
            </a:pPr>
            <a:r>
              <a:rPr sz="1500">
                <a:solidFill>
                  <a:srgbClr val="1B222C"/>
                </a:solidFill>
              </a:rPr>
              <a:t>Then the tree side of the course: random forest, XGBoost, and a majority vote of ten models. Every one of them came in lower.</a:t>
            </a:r>
          </a:p>
          <a:p>
            <a:pPr>
              <a:spcAft>
                <a:spcPts val="1200"/>
              </a:spcAft>
            </a:pPr>
            <a:r>
              <a:rPr sz="1500">
                <a:solidFill>
                  <a:srgbClr val="1B222C"/>
                </a:solidFill>
              </a:rPr>
              <a:t>So I was stuck around 0.75 with nothing left on the syllabus to try.</a:t>
            </a:r>
          </a:p>
          <a:p>
            <a:pPr>
              <a:spcAft>
                <a:spcPts val="1200"/>
              </a:spcAft>
            </a:pPr>
            <a:r>
              <a:rPr sz="1500">
                <a:solidFill>
                  <a:srgbClr val="1B222C"/>
                </a:solidFill>
              </a:rPr>
              <a:t>That is when I went and read about the support vector machine.</a:t>
            </a:r>
          </a:p>
          <a:p>
            <a:pPr lvl="1">
              <a:spcAft>
                <a:spcPts val="600"/>
              </a:spcAft>
            </a:pPr>
            <a:r>
              <a:rPr sz="1200">
                <a:solidFill>
                  <a:srgbClr val="5A6675"/>
                </a:solidFill>
              </a:rPr>
              <a:t>Naive Bayes is the odd one. It gets WORSE with the full article, 0.635 down to 0.594. More text is not automatically better.</a:t>
            </a:r>
          </a:p>
        </p:txBody>
      </p:sp>
      <p:sp>
        <p:nvSpPr>
          <p:cNvPr id="7" name="TextBox 6"/>
          <p:cNvSpPr txBox="1"/>
          <p:nvPr/>
        </p:nvSpPr>
        <p:spPr>
          <a:xfrm>
            <a:off x="640080" y="5029200"/>
            <a:ext cx="10881360" cy="548640"/>
          </a:xfrm>
          <a:prstGeom prst="rect">
            <a:avLst/>
          </a:prstGeom>
          <a:noFill/>
        </p:spPr>
        <p:txBody>
          <a:bodyPr wrap="square">
            <a:spAutoFit/>
          </a:bodyPr>
          <a:lstStyle/>
          <a:p>
            <a:pPr algn="l">
              <a:spcAft>
                <a:spcPts val="800"/>
              </a:spcAft>
            </a:pPr>
            <a:r>
              <a:rPr sz="1400" b="0">
                <a:solidFill>
                  <a:srgbClr val="5A6675"/>
                </a:solidFill>
              </a:rPr>
              <a:t>Every bar is validation macro-F1 on the same 1,120 articles, same split, same cleaning. Only the model changes.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METHOD</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Why I ended up using an SVM</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1783080"/>
            <a:ext cx="9235440" cy="1225296"/>
          </a:xfrm>
          <a:prstGeom prst="roundRect">
            <a:avLst/>
          </a:prstGeom>
          <a:solidFill>
            <a:srgbClr val="F2F5F8"/>
          </a:solidFill>
          <a:ln>
            <a:solidFill>
              <a:srgbClr val="DDE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1B222C"/>
                </a:solidFill>
                <a:latin typeface="Consolas"/>
              </a:rPr>
              <a:t>logistic regression:   p = 1 / (1 + e^-(w·x + b))</a:t>
            </a:r>
          </a:p>
          <a:p>
            <a:pPr algn="ctr"/>
            <a:r>
              <a:rPr sz="1800" b="1">
                <a:solidFill>
                  <a:srgbClr val="1B222C"/>
                </a:solidFill>
                <a:latin typeface="Consolas"/>
              </a:rPr>
              <a:t>linear SVM:            answer yes if  w·x + b &gt; 0</a:t>
            </a:r>
          </a:p>
        </p:txBody>
      </p:sp>
      <p:sp>
        <p:nvSpPr>
          <p:cNvPr id="6" name="TextBox 5"/>
          <p:cNvSpPr txBox="1"/>
          <p:nvPr/>
        </p:nvSpPr>
        <p:spPr>
          <a:xfrm>
            <a:off x="640080" y="3200400"/>
            <a:ext cx="10881360" cy="3291840"/>
          </a:xfrm>
          <a:prstGeom prst="rect">
            <a:avLst/>
          </a:prstGeom>
          <a:noFill/>
        </p:spPr>
        <p:txBody>
          <a:bodyPr wrap="square">
            <a:spAutoFit/>
          </a:bodyPr>
          <a:lstStyle/>
          <a:p>
            <a:pPr>
              <a:spcAft>
                <a:spcPts val="1200"/>
              </a:spcAft>
            </a:pPr>
            <a:r>
              <a:rPr sz="1600">
                <a:solidFill>
                  <a:srgbClr val="1B222C"/>
                </a:solidFill>
              </a:rPr>
              <a:t>Both are the same shape. Multiply every word count by a weight, add them up, look at the sign. Only the fitting rule is different.</a:t>
            </a:r>
          </a:p>
          <a:p>
            <a:pPr>
              <a:spcAft>
                <a:spcPts val="1200"/>
              </a:spcAft>
            </a:pPr>
            <a:r>
              <a:rPr sz="1600">
                <a:solidFill>
                  <a:srgbClr val="1B222C"/>
                </a:solidFill>
              </a:rPr>
              <a:t>Logistic regression picks weights that maximise likelihood. The SVM picks weights that push the boundary as far as it can from both classes. That gap is the margin.</a:t>
            </a:r>
          </a:p>
          <a:p>
            <a:pPr>
              <a:spcAft>
                <a:spcPts val="1200"/>
              </a:spcAft>
            </a:pPr>
            <a:r>
              <a:rPr sz="1600">
                <a:solidFill>
                  <a:srgbClr val="1B222C"/>
                </a:solidFill>
              </a:rPr>
              <a:t>Chapter 06b mentions the SVM once, as the expensive strong learner that ensembles try to replace. It never builds one, so I read about it on my own.</a:t>
            </a:r>
          </a:p>
          <a:p>
            <a:pPr>
              <a:spcAft>
                <a:spcPts val="1200"/>
              </a:spcAft>
            </a:pPr>
            <a:r>
              <a:rPr sz="1600">
                <a:solidFill>
                  <a:srgbClr val="1B222C"/>
                </a:solidFill>
              </a:rPr>
              <a:t>Honest result: on its own the SVM ties logistic regression, 0.753 against 0.752. What actually helped was adding character n-grams, which took it to 0.771.</a:t>
            </a:r>
          </a:p>
          <a:p>
            <a:pPr>
              <a:spcAft>
                <a:spcPts val="1200"/>
              </a:spcAft>
            </a:pPr>
            <a:r>
              <a:rPr sz="1600">
                <a:solidFill>
                  <a:srgbClr val="1B222C"/>
                </a:solidFill>
              </a:rPr>
              <a:t>It also stays linear, so I can still print the exact words behind any prediction. A tree ensemble cannot.</a:t>
            </a:r>
          </a:p>
        </p:txBody>
      </p:sp>
      <p:sp>
        <p:nvSpPr>
          <p:cNvPr id="7" name="TextBox 6"/>
          <p:cNvSpPr txBox="1"/>
          <p:nvPr/>
        </p:nvSpPr>
        <p:spPr>
          <a:xfrm>
            <a:off x="640080" y="6126480"/>
            <a:ext cx="10881360" cy="548640"/>
          </a:xfrm>
          <a:prstGeom prst="rect">
            <a:avLst/>
          </a:prstGeom>
          <a:noFill/>
        </p:spPr>
        <p:txBody>
          <a:bodyPr wrap="square">
            <a:spAutoFit/>
          </a:bodyPr>
          <a:lstStyle/>
          <a:p>
            <a:pPr algn="l">
              <a:spcAft>
                <a:spcPts val="800"/>
              </a:spcAft>
            </a:pPr>
            <a:r>
              <a:rPr sz="1400" b="0">
                <a:solidFill>
                  <a:srgbClr val="5A6675"/>
                </a:solidFill>
              </a:rPr>
              <a:t>One problem it brought with it: no sigmoid, so the output is a distance and not a probability. That is fixed two slides from now.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THE MAIN RESULT</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The full article wins</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10881360" cy="4663440"/>
          </a:xfrm>
          <a:prstGeom prst="rect">
            <a:avLst/>
          </a:prstGeom>
          <a:noFill/>
        </p:spPr>
        <p:txBody>
          <a:bodyPr wrap="square">
            <a:spAutoFit/>
          </a:bodyPr>
          <a:lstStyle/>
          <a:p>
            <a:pPr>
              <a:spcAft>
                <a:spcPts val="1200"/>
              </a:spcAft>
            </a:pPr>
            <a:r>
              <a:rPr sz="1800">
                <a:solidFill>
                  <a:srgbClr val="1B222C"/>
                </a:solidFill>
              </a:rPr>
              <a:t>Same model, same split, same cleaning. The only change is the text I feed it: headline and summary gives 0.712, headline and full body gives 0.771.</a:t>
            </a:r>
          </a:p>
          <a:p>
            <a:pPr>
              <a:spcAft>
                <a:spcPts val="1200"/>
              </a:spcAft>
            </a:pPr>
            <a:r>
              <a:rPr sz="1800">
                <a:solidFill>
                  <a:srgbClr val="1B222C"/>
                </a:solidFill>
              </a:rPr>
              <a:t>The two confidence intervals do not overlap. The paired test on the articles where the two versions disagree gives p = 0.0000075, so this is not luck.</a:t>
            </a:r>
          </a:p>
          <a:p>
            <a:pPr>
              <a:spcAft>
                <a:spcPts val="1200"/>
              </a:spcAft>
            </a:pPr>
            <a:r>
              <a:rPr sz="1800">
                <a:solidFill>
                  <a:srgbClr val="1B222C"/>
                </a:solidFill>
              </a:rPr>
              <a:t>Why it works: a headline says “RBI holds rates”. The body says repo rate, inflation, monetary policy committee, bond yields. Four more chances to get it right instead of one.</a:t>
            </a:r>
          </a:p>
        </p:txBody>
      </p:sp>
      <p:sp>
        <p:nvSpPr>
          <p:cNvPr id="6" name="TextBox 5"/>
          <p:cNvSpPr txBox="1"/>
          <p:nvPr/>
        </p:nvSpPr>
        <p:spPr>
          <a:xfrm>
            <a:off x="640080" y="4754880"/>
            <a:ext cx="10881360" cy="731520"/>
          </a:xfrm>
          <a:prstGeom prst="rect">
            <a:avLst/>
          </a:prstGeom>
          <a:noFill/>
        </p:spPr>
        <p:txBody>
          <a:bodyPr wrap="square">
            <a:spAutoFit/>
          </a:bodyPr>
          <a:lstStyle/>
          <a:p>
            <a:pPr algn="l">
              <a:spcAft>
                <a:spcPts val="800"/>
              </a:spcAft>
            </a:pPr>
            <a:r>
              <a:rPr sz="2800" b="1">
                <a:solidFill>
                  <a:srgbClr val="1E7A4B"/>
                </a:solidFill>
              </a:rPr>
              <a:t>+0.059 macro-F1 just from reading the article instead of the headline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RESULTS</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Things I tried that did not work</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828800"/>
          <a:ext cx="10881360" cy="3456432"/>
        </p:xfrm>
        <a:graphic>
          <a:graphicData uri="http://schemas.openxmlformats.org/drawingml/2006/table">
            <a:tbl>
              <a:tblPr firstRow="1" bandRow="1">
                <a:tableStyleId>{5C22544A-7EE6-4342-B048-85BDC9FD1C3A}</a:tableStyleId>
              </a:tblPr>
              <a:tblGrid>
                <a:gridCol w="2720340">
                  <a:extLst>
                    <a:ext uri="{9D8B030D-6E8A-4147-A177-3AD203B41FA5}">
                      <a16:colId xmlns:a16="http://schemas.microsoft.com/office/drawing/2014/main" val="20000"/>
                    </a:ext>
                  </a:extLst>
                </a:gridCol>
                <a:gridCol w="2720340">
                  <a:extLst>
                    <a:ext uri="{9D8B030D-6E8A-4147-A177-3AD203B41FA5}">
                      <a16:colId xmlns:a16="http://schemas.microsoft.com/office/drawing/2014/main" val="20001"/>
                    </a:ext>
                  </a:extLst>
                </a:gridCol>
                <a:gridCol w="2720340">
                  <a:extLst>
                    <a:ext uri="{9D8B030D-6E8A-4147-A177-3AD203B41FA5}">
                      <a16:colId xmlns:a16="http://schemas.microsoft.com/office/drawing/2014/main" val="20002"/>
                    </a:ext>
                  </a:extLst>
                </a:gridCol>
                <a:gridCol w="2720340">
                  <a:extLst>
                    <a:ext uri="{9D8B030D-6E8A-4147-A177-3AD203B41FA5}">
                      <a16:colId xmlns:a16="http://schemas.microsoft.com/office/drawing/2014/main" val="20003"/>
                    </a:ext>
                  </a:extLst>
                </a:gridCol>
              </a:tblGrid>
              <a:tr h="384048">
                <a:tc>
                  <a:txBody>
                    <a:bodyPr/>
                    <a:lstStyle/>
                    <a:p>
                      <a:pPr algn="l"/>
                      <a:r>
                        <a:rPr sz="1400" b="1">
                          <a:solidFill>
                            <a:srgbClr val="1B222C"/>
                          </a:solidFill>
                        </a:rPr>
                        <a:t>What I tried</a:t>
                      </a:r>
                    </a:p>
                  </a:txBody>
                  <a:tcPr>
                    <a:solidFill>
                      <a:srgbClr val="F2F5F8"/>
                    </a:solidFill>
                  </a:tcPr>
                </a:tc>
                <a:tc>
                  <a:txBody>
                    <a:bodyPr/>
                    <a:lstStyle/>
                    <a:p>
                      <a:pPr algn="r"/>
                      <a:r>
                        <a:rPr sz="1400" b="1">
                          <a:solidFill>
                            <a:srgbClr val="1B222C"/>
                          </a:solidFill>
                        </a:rPr>
                        <a:t>From</a:t>
                      </a:r>
                    </a:p>
                  </a:txBody>
                  <a:tcPr>
                    <a:solidFill>
                      <a:srgbClr val="F2F5F8"/>
                    </a:solidFill>
                  </a:tcPr>
                </a:tc>
                <a:tc>
                  <a:txBody>
                    <a:bodyPr/>
                    <a:lstStyle/>
                    <a:p>
                      <a:pPr algn="r"/>
                      <a:r>
                        <a:rPr sz="1400" b="1">
                          <a:solidFill>
                            <a:srgbClr val="1B222C"/>
                          </a:solidFill>
                        </a:rPr>
                        <a:t>What happened</a:t>
                      </a:r>
                    </a:p>
                  </a:txBody>
                  <a:tcPr>
                    <a:solidFill>
                      <a:srgbClr val="F2F5F8"/>
                    </a:solidFill>
                  </a:tcPr>
                </a:tc>
                <a:tc>
                  <a:txBody>
                    <a:bodyPr/>
                    <a:lstStyle/>
                    <a:p>
                      <a:pPr algn="r"/>
                      <a:r>
                        <a:rPr sz="1400" b="1">
                          <a:solidFill>
                            <a:srgbClr val="1B222C"/>
                          </a:solidFill>
                        </a:rPr>
                        <a:t>Kept?</a:t>
                      </a:r>
                    </a:p>
                  </a:txBody>
                  <a:tcPr>
                    <a:solidFill>
                      <a:srgbClr val="F2F5F8"/>
                    </a:solidFill>
                  </a:tcPr>
                </a:tc>
                <a:extLst>
                  <a:ext uri="{0D108BD9-81ED-4DB2-BD59-A6C34878D82A}">
                    <a16:rowId xmlns:a16="http://schemas.microsoft.com/office/drawing/2014/main" val="10000"/>
                  </a:ext>
                </a:extLst>
              </a:tr>
              <a:tr h="384048">
                <a:tc>
                  <a:txBody>
                    <a:bodyPr/>
                    <a:lstStyle/>
                    <a:p>
                      <a:pPr algn="l"/>
                      <a:r>
                        <a:rPr sz="1400" b="0">
                          <a:solidFill>
                            <a:srgbClr val="1B222C"/>
                          </a:solidFill>
                        </a:rPr>
                        <a:t>Random forest / extra trees</a:t>
                      </a:r>
                    </a:p>
                  </a:txBody>
                  <a:tcPr>
                    <a:solidFill>
                      <a:srgbClr val="FFFFFF"/>
                    </a:solidFill>
                  </a:tcPr>
                </a:tc>
                <a:tc>
                  <a:txBody>
                    <a:bodyPr/>
                    <a:lstStyle/>
                    <a:p>
                      <a:pPr algn="r"/>
                      <a:r>
                        <a:rPr sz="1400" b="0">
                          <a:solidFill>
                            <a:srgbClr val="1B222C"/>
                          </a:solidFill>
                        </a:rPr>
                        <a:t>Ch 06 §4</a:t>
                      </a:r>
                    </a:p>
                  </a:txBody>
                  <a:tcPr>
                    <a:solidFill>
                      <a:srgbClr val="FFFFFF"/>
                    </a:solidFill>
                  </a:tcPr>
                </a:tc>
                <a:tc>
                  <a:txBody>
                    <a:bodyPr/>
                    <a:lstStyle/>
                    <a:p>
                      <a:pPr algn="r"/>
                      <a:r>
                        <a:rPr sz="1400" b="0">
                          <a:solidFill>
                            <a:srgbClr val="1B222C"/>
                          </a:solidFill>
                        </a:rPr>
                        <a:t>0.04 to 0.09 worse</a:t>
                      </a:r>
                    </a:p>
                  </a:txBody>
                  <a:tcPr>
                    <a:solidFill>
                      <a:srgbClr val="FFFFFF"/>
                    </a:solidFill>
                  </a:tcPr>
                </a:tc>
                <a:tc>
                  <a:txBody>
                    <a:bodyPr/>
                    <a:lstStyle/>
                    <a:p>
                      <a:pPr algn="r"/>
                      <a:r>
                        <a:rPr sz="1400" b="0">
                          <a:solidFill>
                            <a:srgbClr val="1B222C"/>
                          </a:solidFill>
                        </a:rPr>
                        <a:t>no</a:t>
                      </a:r>
                    </a:p>
                  </a:txBody>
                  <a:tcPr>
                    <a:solidFill>
                      <a:srgbClr val="FFFFFF"/>
                    </a:solidFill>
                  </a:tcPr>
                </a:tc>
                <a:extLst>
                  <a:ext uri="{0D108BD9-81ED-4DB2-BD59-A6C34878D82A}">
                    <a16:rowId xmlns:a16="http://schemas.microsoft.com/office/drawing/2014/main" val="10001"/>
                  </a:ext>
                </a:extLst>
              </a:tr>
              <a:tr h="384048">
                <a:tc>
                  <a:txBody>
                    <a:bodyPr/>
                    <a:lstStyle/>
                    <a:p>
                      <a:pPr algn="l"/>
                      <a:r>
                        <a:rPr sz="1400" b="0">
                          <a:solidFill>
                            <a:srgbClr val="1B222C"/>
                          </a:solidFill>
                        </a:rPr>
                        <a:t>XGBoost on compressed features</a:t>
                      </a:r>
                    </a:p>
                  </a:txBody>
                  <a:tcPr>
                    <a:solidFill>
                      <a:srgbClr val="FFFFFF"/>
                    </a:solidFill>
                  </a:tcPr>
                </a:tc>
                <a:tc>
                  <a:txBody>
                    <a:bodyPr/>
                    <a:lstStyle/>
                    <a:p>
                      <a:pPr algn="r"/>
                      <a:r>
                        <a:rPr sz="1400" b="0">
                          <a:solidFill>
                            <a:srgbClr val="1B222C"/>
                          </a:solidFill>
                        </a:rPr>
                        <a:t>Ch 06 §5.3</a:t>
                      </a:r>
                    </a:p>
                  </a:txBody>
                  <a:tcPr>
                    <a:solidFill>
                      <a:srgbClr val="FFFFFF"/>
                    </a:solidFill>
                  </a:tcPr>
                </a:tc>
                <a:tc>
                  <a:txBody>
                    <a:bodyPr/>
                    <a:lstStyle/>
                    <a:p>
                      <a:pPr algn="r"/>
                      <a:r>
                        <a:rPr sz="1400" b="0">
                          <a:solidFill>
                            <a:srgbClr val="1B222C"/>
                          </a:solidFill>
                        </a:rPr>
                        <a:t>0.036 worse, 5× slower</a:t>
                      </a:r>
                    </a:p>
                  </a:txBody>
                  <a:tcPr>
                    <a:solidFill>
                      <a:srgbClr val="FFFFFF"/>
                    </a:solidFill>
                  </a:tcPr>
                </a:tc>
                <a:tc>
                  <a:txBody>
                    <a:bodyPr/>
                    <a:lstStyle/>
                    <a:p>
                      <a:pPr algn="r"/>
                      <a:r>
                        <a:rPr sz="1400" b="0">
                          <a:solidFill>
                            <a:srgbClr val="1B222C"/>
                          </a:solidFill>
                        </a:rPr>
                        <a:t>no</a:t>
                      </a:r>
                    </a:p>
                  </a:txBody>
                  <a:tcPr>
                    <a:solidFill>
                      <a:srgbClr val="FFFFFF"/>
                    </a:solidFill>
                  </a:tcPr>
                </a:tc>
                <a:extLst>
                  <a:ext uri="{0D108BD9-81ED-4DB2-BD59-A6C34878D82A}">
                    <a16:rowId xmlns:a16="http://schemas.microsoft.com/office/drawing/2014/main" val="10002"/>
                  </a:ext>
                </a:extLst>
              </a:tr>
              <a:tr h="384048">
                <a:tc>
                  <a:txBody>
                    <a:bodyPr/>
                    <a:lstStyle/>
                    <a:p>
                      <a:pPr algn="l"/>
                      <a:r>
                        <a:rPr sz="1400" b="0">
                          <a:solidFill>
                            <a:srgbClr val="1B222C"/>
                          </a:solidFill>
                        </a:rPr>
                        <a:t>Majority vote of 10 models</a:t>
                      </a:r>
                    </a:p>
                  </a:txBody>
                  <a:tcPr>
                    <a:solidFill>
                      <a:srgbClr val="FFFFFF"/>
                    </a:solidFill>
                  </a:tcPr>
                </a:tc>
                <a:tc>
                  <a:txBody>
                    <a:bodyPr/>
                    <a:lstStyle/>
                    <a:p>
                      <a:pPr algn="r"/>
                      <a:r>
                        <a:rPr sz="1400" b="0">
                          <a:solidFill>
                            <a:srgbClr val="1B222C"/>
                          </a:solidFill>
                        </a:rPr>
                        <a:t>Ch 06 §2</a:t>
                      </a:r>
                    </a:p>
                  </a:txBody>
                  <a:tcPr>
                    <a:solidFill>
                      <a:srgbClr val="FFFFFF"/>
                    </a:solidFill>
                  </a:tcPr>
                </a:tc>
                <a:tc>
                  <a:txBody>
                    <a:bodyPr/>
                    <a:lstStyle/>
                    <a:p>
                      <a:pPr algn="r"/>
                      <a:r>
                        <a:rPr sz="1400" b="0">
                          <a:solidFill>
                            <a:srgbClr val="1B222C"/>
                          </a:solidFill>
                        </a:rPr>
                        <a:t>+0.001, p = 1.00</a:t>
                      </a:r>
                    </a:p>
                  </a:txBody>
                  <a:tcPr>
                    <a:solidFill>
                      <a:srgbClr val="FFFFFF"/>
                    </a:solidFill>
                  </a:tcPr>
                </a:tc>
                <a:tc>
                  <a:txBody>
                    <a:bodyPr/>
                    <a:lstStyle/>
                    <a:p>
                      <a:pPr algn="r"/>
                      <a:r>
                        <a:rPr sz="1400" b="0">
                          <a:solidFill>
                            <a:srgbClr val="1B222C"/>
                          </a:solidFill>
                        </a:rPr>
                        <a:t>no</a:t>
                      </a:r>
                    </a:p>
                  </a:txBody>
                  <a:tcPr>
                    <a:solidFill>
                      <a:srgbClr val="FFFFFF"/>
                    </a:solidFill>
                  </a:tcPr>
                </a:tc>
                <a:extLst>
                  <a:ext uri="{0D108BD9-81ED-4DB2-BD59-A6C34878D82A}">
                    <a16:rowId xmlns:a16="http://schemas.microsoft.com/office/drawing/2014/main" val="10003"/>
                  </a:ext>
                </a:extLst>
              </a:tr>
              <a:tr h="384048">
                <a:tc>
                  <a:txBody>
                    <a:bodyPr/>
                    <a:lstStyle/>
                    <a:p>
                      <a:pPr algn="l"/>
                      <a:r>
                        <a:rPr sz="1400" b="0">
                          <a:solidFill>
                            <a:srgbClr val="1B222C"/>
                          </a:solidFill>
                        </a:rPr>
                        <a:t>KNN</a:t>
                      </a:r>
                    </a:p>
                  </a:txBody>
                  <a:tcPr>
                    <a:solidFill>
                      <a:srgbClr val="FFFFFF"/>
                    </a:solidFill>
                  </a:tcPr>
                </a:tc>
                <a:tc>
                  <a:txBody>
                    <a:bodyPr/>
                    <a:lstStyle/>
                    <a:p>
                      <a:pPr algn="r"/>
                      <a:r>
                        <a:rPr sz="1400" b="0">
                          <a:solidFill>
                            <a:srgbClr val="1B222C"/>
                          </a:solidFill>
                        </a:rPr>
                        <a:t>Ch 04</a:t>
                      </a:r>
                    </a:p>
                  </a:txBody>
                  <a:tcPr>
                    <a:solidFill>
                      <a:srgbClr val="FFFFFF"/>
                    </a:solidFill>
                  </a:tcPr>
                </a:tc>
                <a:tc>
                  <a:txBody>
                    <a:bodyPr/>
                    <a:lstStyle/>
                    <a:p>
                      <a:pPr algn="r"/>
                      <a:r>
                        <a:rPr sz="1400" b="0">
                          <a:solidFill>
                            <a:srgbClr val="1B222C"/>
                          </a:solidFill>
                        </a:rPr>
                        <a:t>ruled out on paper, not run</a:t>
                      </a:r>
                    </a:p>
                  </a:txBody>
                  <a:tcPr>
                    <a:solidFill>
                      <a:srgbClr val="FFFFFF"/>
                    </a:solidFill>
                  </a:tcPr>
                </a:tc>
                <a:tc>
                  <a:txBody>
                    <a:bodyPr/>
                    <a:lstStyle/>
                    <a:p>
                      <a:pPr algn="r"/>
                      <a:r>
                        <a:rPr sz="1400" b="0">
                          <a:solidFill>
                            <a:srgbClr val="1B222C"/>
                          </a:solidFill>
                        </a:rPr>
                        <a:t>no</a:t>
                      </a:r>
                    </a:p>
                  </a:txBody>
                  <a:tcPr>
                    <a:solidFill>
                      <a:srgbClr val="FFFFFF"/>
                    </a:solidFill>
                  </a:tcPr>
                </a:tc>
                <a:extLst>
                  <a:ext uri="{0D108BD9-81ED-4DB2-BD59-A6C34878D82A}">
                    <a16:rowId xmlns:a16="http://schemas.microsoft.com/office/drawing/2014/main" val="10004"/>
                  </a:ext>
                </a:extLst>
              </a:tr>
              <a:tr h="384048">
                <a:tc>
                  <a:txBody>
                    <a:bodyPr/>
                    <a:lstStyle/>
                    <a:p>
                      <a:pPr algn="l"/>
                      <a:r>
                        <a:rPr sz="1400" b="0">
                          <a:solidFill>
                            <a:srgbClr val="1B222C"/>
                          </a:solidFill>
                        </a:rPr>
                        <a:t>Removing names and places</a:t>
                      </a:r>
                    </a:p>
                  </a:txBody>
                  <a:tcPr>
                    <a:solidFill>
                      <a:srgbClr val="FFFFFF"/>
                    </a:solidFill>
                  </a:tcPr>
                </a:tc>
                <a:tc>
                  <a:txBody>
                    <a:bodyPr/>
                    <a:lstStyle/>
                    <a:p>
                      <a:pPr algn="r"/>
                      <a:r>
                        <a:rPr sz="1400" b="0">
                          <a:solidFill>
                            <a:srgbClr val="1B222C"/>
                          </a:solidFill>
                        </a:rPr>
                        <a:t>my idea</a:t>
                      </a:r>
                    </a:p>
                  </a:txBody>
                  <a:tcPr>
                    <a:solidFill>
                      <a:srgbClr val="FFFFFF"/>
                    </a:solidFill>
                  </a:tcPr>
                </a:tc>
                <a:tc>
                  <a:txBody>
                    <a:bodyPr/>
                    <a:lstStyle/>
                    <a:p>
                      <a:pPr algn="r"/>
                      <a:r>
                        <a:rPr sz="1400" b="0">
                          <a:solidFill>
                            <a:srgbClr val="1B222C"/>
                          </a:solidFill>
                        </a:rPr>
                        <a:t>no version helped</a:t>
                      </a:r>
                    </a:p>
                  </a:txBody>
                  <a:tcPr>
                    <a:solidFill>
                      <a:srgbClr val="FFFFFF"/>
                    </a:solidFill>
                  </a:tcPr>
                </a:tc>
                <a:tc>
                  <a:txBody>
                    <a:bodyPr/>
                    <a:lstStyle/>
                    <a:p>
                      <a:pPr algn="r"/>
                      <a:r>
                        <a:rPr sz="1400" b="0">
                          <a:solidFill>
                            <a:srgbClr val="1B222C"/>
                          </a:solidFill>
                        </a:rPr>
                        <a:t>no</a:t>
                      </a:r>
                    </a:p>
                  </a:txBody>
                  <a:tcPr>
                    <a:solidFill>
                      <a:srgbClr val="FFFFFF"/>
                    </a:solidFill>
                  </a:tcPr>
                </a:tc>
                <a:extLst>
                  <a:ext uri="{0D108BD9-81ED-4DB2-BD59-A6C34878D82A}">
                    <a16:rowId xmlns:a16="http://schemas.microsoft.com/office/drawing/2014/main" val="10005"/>
                  </a:ext>
                </a:extLst>
              </a:tr>
              <a:tr h="384048">
                <a:tc>
                  <a:txBody>
                    <a:bodyPr/>
                    <a:lstStyle/>
                    <a:p>
                      <a:pPr algn="l"/>
                      <a:r>
                        <a:rPr sz="1400" b="0">
                          <a:solidFill>
                            <a:srgbClr val="1B222C"/>
                          </a:solidFill>
                        </a:rPr>
                        <a:t>Giving the headline extra weight</a:t>
                      </a:r>
                    </a:p>
                  </a:txBody>
                  <a:tcPr>
                    <a:solidFill>
                      <a:srgbClr val="FFFFFF"/>
                    </a:solidFill>
                  </a:tcPr>
                </a:tc>
                <a:tc>
                  <a:txBody>
                    <a:bodyPr/>
                    <a:lstStyle/>
                    <a:p>
                      <a:pPr algn="r"/>
                      <a:r>
                        <a:rPr sz="1400" b="0">
                          <a:solidFill>
                            <a:srgbClr val="1B222C"/>
                          </a:solidFill>
                        </a:rPr>
                        <a:t>my idea</a:t>
                      </a:r>
                    </a:p>
                  </a:txBody>
                  <a:tcPr>
                    <a:solidFill>
                      <a:srgbClr val="FFFFFF"/>
                    </a:solidFill>
                  </a:tcPr>
                </a:tc>
                <a:tc>
                  <a:txBody>
                    <a:bodyPr/>
                    <a:lstStyle/>
                    <a:p>
                      <a:pPr algn="r"/>
                      <a:r>
                        <a:rPr sz="1400" b="0">
                          <a:solidFill>
                            <a:srgbClr val="1B222C"/>
                          </a:solidFill>
                        </a:rPr>
                        <a:t>steadily worse</a:t>
                      </a:r>
                    </a:p>
                  </a:txBody>
                  <a:tcPr>
                    <a:solidFill>
                      <a:srgbClr val="FFFFFF"/>
                    </a:solidFill>
                  </a:tcPr>
                </a:tc>
                <a:tc>
                  <a:txBody>
                    <a:bodyPr/>
                    <a:lstStyle/>
                    <a:p>
                      <a:pPr algn="r"/>
                      <a:r>
                        <a:rPr sz="1400" b="0">
                          <a:solidFill>
                            <a:srgbClr val="1B222C"/>
                          </a:solidFill>
                        </a:rPr>
                        <a:t>no</a:t>
                      </a:r>
                    </a:p>
                  </a:txBody>
                  <a:tcPr>
                    <a:solidFill>
                      <a:srgbClr val="FFFFFF"/>
                    </a:solidFill>
                  </a:tcPr>
                </a:tc>
                <a:extLst>
                  <a:ext uri="{0D108BD9-81ED-4DB2-BD59-A6C34878D82A}">
                    <a16:rowId xmlns:a16="http://schemas.microsoft.com/office/drawing/2014/main" val="10006"/>
                  </a:ext>
                </a:extLst>
              </a:tr>
              <a:tr h="384048">
                <a:tc>
                  <a:txBody>
                    <a:bodyPr/>
                    <a:lstStyle/>
                    <a:p>
                      <a:pPr algn="l"/>
                      <a:r>
                        <a:rPr sz="1400" b="0">
                          <a:solidFill>
                            <a:srgbClr val="1B222C"/>
                          </a:solidFill>
                        </a:rPr>
                        <a:t>Tuning the SVM over a 6× range</a:t>
                      </a:r>
                    </a:p>
                  </a:txBody>
                  <a:tcPr>
                    <a:solidFill>
                      <a:srgbClr val="FFFFFF"/>
                    </a:solidFill>
                  </a:tcPr>
                </a:tc>
                <a:tc>
                  <a:txBody>
                    <a:bodyPr/>
                    <a:lstStyle/>
                    <a:p>
                      <a:pPr algn="r"/>
                      <a:r>
                        <a:rPr sz="1400" b="0">
                          <a:solidFill>
                            <a:srgbClr val="1B222C"/>
                          </a:solidFill>
                        </a:rPr>
                        <a:t>my idea</a:t>
                      </a:r>
                    </a:p>
                  </a:txBody>
                  <a:tcPr>
                    <a:solidFill>
                      <a:srgbClr val="FFFFFF"/>
                    </a:solidFill>
                  </a:tcPr>
                </a:tc>
                <a:tc>
                  <a:txBody>
                    <a:bodyPr/>
                    <a:lstStyle/>
                    <a:p>
                      <a:pPr algn="r"/>
                      <a:r>
                        <a:rPr sz="1400" b="0">
                          <a:solidFill>
                            <a:srgbClr val="1B222C"/>
                          </a:solidFill>
                        </a:rPr>
                        <a:t>changes score by 0.002</a:t>
                      </a:r>
                    </a:p>
                  </a:txBody>
                  <a:tcPr>
                    <a:solidFill>
                      <a:srgbClr val="FFFFFF"/>
                    </a:solidFill>
                  </a:tcPr>
                </a:tc>
                <a:tc>
                  <a:txBody>
                    <a:bodyPr/>
                    <a:lstStyle/>
                    <a:p>
                      <a:pPr algn="r"/>
                      <a:r>
                        <a:rPr sz="1400" b="0">
                          <a:solidFill>
                            <a:srgbClr val="1B222C"/>
                          </a:solidFill>
                        </a:rPr>
                        <a:t>no</a:t>
                      </a:r>
                    </a:p>
                  </a:txBody>
                  <a:tcPr>
                    <a:solidFill>
                      <a:srgbClr val="FFFFFF"/>
                    </a:solidFill>
                  </a:tcPr>
                </a:tc>
                <a:extLst>
                  <a:ext uri="{0D108BD9-81ED-4DB2-BD59-A6C34878D82A}">
                    <a16:rowId xmlns:a16="http://schemas.microsoft.com/office/drawing/2014/main" val="10007"/>
                  </a:ext>
                </a:extLst>
              </a:tr>
              <a:tr h="384048">
                <a:tc>
                  <a:txBody>
                    <a:bodyPr/>
                    <a:lstStyle/>
                    <a:p>
                      <a:pPr algn="l"/>
                      <a:r>
                        <a:rPr sz="1400" b="0">
                          <a:solidFill>
                            <a:srgbClr val="1B222C"/>
                          </a:solidFill>
                        </a:rPr>
                        <a:t>Sentence embeddings (MiniLM)</a:t>
                      </a:r>
                    </a:p>
                  </a:txBody>
                  <a:tcPr>
                    <a:solidFill>
                      <a:srgbClr val="FFFFFF"/>
                    </a:solidFill>
                  </a:tcPr>
                </a:tc>
                <a:tc>
                  <a:txBody>
                    <a:bodyPr/>
                    <a:lstStyle/>
                    <a:p>
                      <a:pPr algn="r"/>
                      <a:r>
                        <a:rPr sz="1400" b="0">
                          <a:solidFill>
                            <a:srgbClr val="1B222C"/>
                          </a:solidFill>
                        </a:rPr>
                        <a:t>researched</a:t>
                      </a:r>
                    </a:p>
                  </a:txBody>
                  <a:tcPr>
                    <a:solidFill>
                      <a:srgbClr val="FFFFFF"/>
                    </a:solidFill>
                  </a:tcPr>
                </a:tc>
                <a:tc>
                  <a:txBody>
                    <a:bodyPr/>
                    <a:lstStyle/>
                    <a:p>
                      <a:pPr algn="r"/>
                      <a:r>
                        <a:rPr sz="1400" b="0">
                          <a:solidFill>
                            <a:srgbClr val="1B222C"/>
                          </a:solidFill>
                        </a:rPr>
                        <a:t>0.061 worse</a:t>
                      </a:r>
                    </a:p>
                  </a:txBody>
                  <a:tcPr>
                    <a:solidFill>
                      <a:srgbClr val="FFFFFF"/>
                    </a:solidFill>
                  </a:tcPr>
                </a:tc>
                <a:tc>
                  <a:txBody>
                    <a:bodyPr/>
                    <a:lstStyle/>
                    <a:p>
                      <a:pPr algn="r"/>
                      <a:r>
                        <a:rPr sz="1400" b="0">
                          <a:solidFill>
                            <a:srgbClr val="1B222C"/>
                          </a:solidFill>
                        </a:rPr>
                        <a:t>no</a:t>
                      </a:r>
                    </a:p>
                  </a:txBody>
                  <a:tcPr>
                    <a:solidFill>
                      <a:srgbClr val="FFFFFF"/>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640080" y="5394960"/>
            <a:ext cx="10881360" cy="548640"/>
          </a:xfrm>
          <a:prstGeom prst="rect">
            <a:avLst/>
          </a:prstGeom>
          <a:noFill/>
        </p:spPr>
        <p:txBody>
          <a:bodyPr wrap="square">
            <a:spAutoFit/>
          </a:bodyPr>
          <a:lstStyle/>
          <a:p>
            <a:pPr algn="l">
              <a:spcAft>
                <a:spcPts val="800"/>
              </a:spcAft>
            </a:pPr>
            <a:r>
              <a:rPr sz="1400" b="0">
                <a:solidFill>
                  <a:srgbClr val="5A6675"/>
                </a:solidFill>
              </a:rPr>
              <a:t>KNN is the one I ruled out by reasoning instead of by running it. It is a lazy learner: it keeps all 5,487 training articles and measures distance to each one at predict time. My feature space has about 30,000 dimensions, which is exactly the curse of dimensionality Chapter 04 warns about.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FINDING</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Why my ensemble failed, and Chapter 06 told me so</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10881360" cy="4663440"/>
          </a:xfrm>
          <a:prstGeom prst="rect">
            <a:avLst/>
          </a:prstGeom>
          <a:noFill/>
        </p:spPr>
        <p:txBody>
          <a:bodyPr wrap="square">
            <a:spAutoFit/>
          </a:bodyPr>
          <a:lstStyle/>
          <a:p>
            <a:pPr>
              <a:spcAft>
                <a:spcPts val="1200"/>
              </a:spcAft>
            </a:pPr>
            <a:r>
              <a:rPr sz="1800">
                <a:solidFill>
                  <a:srgbClr val="1B222C"/>
                </a:solidFill>
              </a:rPr>
              <a:t>Chapter 06 §2 gives two conditions for a vote to beat its members. Each model must be better than random, and their mistakes must be roughly independent. Mine failed the second one.</a:t>
            </a:r>
          </a:p>
          <a:p>
            <a:pPr>
              <a:spcAft>
                <a:spcPts val="1200"/>
              </a:spcAft>
            </a:pPr>
            <a:r>
              <a:rPr sz="1800">
                <a:solidFill>
                  <a:srgbClr val="1B222C"/>
                </a:solidFill>
              </a:rPr>
              <a:t>The models do disagree, a lot. If I could magically pick the right model for every article I would score 0.900 instead of 0.771. So the disagreement is real and it is big.</a:t>
            </a:r>
          </a:p>
          <a:p>
            <a:pPr>
              <a:spcAft>
                <a:spcPts val="1200"/>
              </a:spcAft>
            </a:pPr>
            <a:r>
              <a:rPr sz="1800">
                <a:solidFill>
                  <a:srgbClr val="1B222C"/>
                </a:solidFill>
              </a:rPr>
              <a:t>But it is lopsided. The embedding model fixes 70 of the SVM's mistakes and breaks 148 of its correct answers. A vote has no way to tell those apart.</a:t>
            </a:r>
          </a:p>
          <a:p>
            <a:pPr>
              <a:spcAft>
                <a:spcPts val="1200"/>
              </a:spcAft>
            </a:pPr>
            <a:r>
              <a:rPr sz="1800">
                <a:solidFill>
                  <a:srgbClr val="1B222C"/>
                </a:solidFill>
              </a:rPr>
              <a:t>Four different combinations of models, four identical scores, p = 1.0000.</a:t>
            </a:r>
          </a:p>
          <a:p>
            <a:pPr lvl="1">
              <a:spcAft>
                <a:spcPts val="600"/>
              </a:spcAft>
            </a:pPr>
            <a:r>
              <a:rPr sz="1500">
                <a:solidFill>
                  <a:srgbClr val="5A6675"/>
                </a:solidFill>
              </a:rPr>
              <a:t>So I dropped the stacked ensemble I had planned and wrote down why. If a chooser would help but an average does not, then what I need is abstention, which is the next slide.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INNOVATION</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Novelty 1: making the confidence number mean something</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alibration.png"/>
          <p:cNvPicPr>
            <a:picLocks noChangeAspect="1"/>
          </p:cNvPicPr>
          <p:nvPr/>
        </p:nvPicPr>
        <p:blipFill>
          <a:blip r:embed="rId2"/>
          <a:stretch>
            <a:fillRect/>
          </a:stretch>
        </p:blipFill>
        <p:spPr>
          <a:xfrm>
            <a:off x="1097280" y="1828800"/>
            <a:ext cx="9966960" cy="3679392"/>
          </a:xfrm>
          <a:prstGeom prst="rect">
            <a:avLst/>
          </a:prstGeom>
        </p:spPr>
      </p:pic>
      <p:sp>
        <p:nvSpPr>
          <p:cNvPr id="6" name="TextBox 5"/>
          <p:cNvSpPr txBox="1"/>
          <p:nvPr/>
        </p:nvSpPr>
        <p:spPr>
          <a:xfrm>
            <a:off x="640080" y="5120640"/>
            <a:ext cx="10881360" cy="548640"/>
          </a:xfrm>
          <a:prstGeom prst="rect">
            <a:avLst/>
          </a:prstGeom>
          <a:noFill/>
        </p:spPr>
        <p:txBody>
          <a:bodyPr wrap="square">
            <a:spAutoFit/>
          </a:bodyPr>
          <a:lstStyle/>
          <a:p>
            <a:pPr algn="l">
              <a:spcAft>
                <a:spcPts val="800"/>
              </a:spcAft>
            </a:pPr>
            <a:r>
              <a:rPr sz="1400" b="0">
                <a:solidFill>
                  <a:srgbClr val="5A6675"/>
                </a:solidFill>
              </a:rPr>
              <a:t>The SVM gives me w·x + b, a distance from the boundary. A score of 2.4 does not mean 90% sure, it does not mean anything on its own. So I take the training data, check how often a score of that size is actually correct, and use that fraction as the confidence. Left chart: the dots should sit on the dotted line, and they nearly do. When it claims 0.9 it is right about 9 times in 10. Average gap is 0.021 on test. Chapter 07 §7 warns that AUC cannot see this at all.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CHAPTER 07 §4</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Novelty 2: letting it say “I am not sure”</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011680" y="1737360"/>
            <a:ext cx="8138160" cy="749808"/>
          </a:xfrm>
          <a:prstGeom prst="roundRect">
            <a:avLst/>
          </a:prstGeom>
          <a:solidFill>
            <a:srgbClr val="F2F5F8"/>
          </a:solidFill>
          <a:ln>
            <a:solidFill>
              <a:srgbClr val="DDE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1B222C"/>
                </a:solidFill>
                <a:latin typeface="Consolas"/>
              </a:rPr>
              <a:t>Coverage = articles it answered / all articles</a:t>
            </a:r>
          </a:p>
        </p:txBody>
      </p:sp>
      <p:graphicFrame>
        <p:nvGraphicFramePr>
          <p:cNvPr id="6" name="Table 5"/>
          <p:cNvGraphicFramePr>
            <a:graphicFrameLocks noGrp="1"/>
          </p:cNvGraphicFramePr>
          <p:nvPr/>
        </p:nvGraphicFramePr>
        <p:xfrm>
          <a:off x="640080" y="2560320"/>
          <a:ext cx="10881360" cy="137160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457200">
                <a:tc>
                  <a:txBody>
                    <a:bodyPr/>
                    <a:lstStyle/>
                    <a:p>
                      <a:pPr algn="l"/>
                      <a:r>
                        <a:rPr sz="1600" b="1">
                          <a:solidFill>
                            <a:srgbClr val="1B222C"/>
                          </a:solidFill>
                        </a:rPr>
                        <a:t>On the held-out test set</a:t>
                      </a:r>
                    </a:p>
                  </a:txBody>
                  <a:tcPr>
                    <a:solidFill>
                      <a:srgbClr val="F2F5F8"/>
                    </a:solidFill>
                  </a:tcPr>
                </a:tc>
                <a:tc>
                  <a:txBody>
                    <a:bodyPr/>
                    <a:lstStyle/>
                    <a:p>
                      <a:pPr algn="r"/>
                      <a:r>
                        <a:rPr sz="1600" b="1">
                          <a:solidFill>
                            <a:srgbClr val="1B222C"/>
                          </a:solidFill>
                        </a:rPr>
                        <a:t>coverage</a:t>
                      </a:r>
                    </a:p>
                  </a:txBody>
                  <a:tcPr>
                    <a:solidFill>
                      <a:srgbClr val="F2F5F8"/>
                    </a:solidFill>
                  </a:tcPr>
                </a:tc>
                <a:tc>
                  <a:txBody>
                    <a:bodyPr/>
                    <a:lstStyle/>
                    <a:p>
                      <a:pPr algn="r"/>
                      <a:r>
                        <a:rPr sz="1600" b="1">
                          <a:solidFill>
                            <a:srgbClr val="1B222C"/>
                          </a:solidFill>
                        </a:rPr>
                        <a:t>accuracy on what it filed</a:t>
                      </a:r>
                    </a:p>
                  </a:txBody>
                  <a:tcPr>
                    <a:solidFill>
                      <a:srgbClr val="F2F5F8"/>
                    </a:solidFill>
                  </a:tcPr>
                </a:tc>
                <a:extLst>
                  <a:ext uri="{0D108BD9-81ED-4DB2-BD59-A6C34878D82A}">
                    <a16:rowId xmlns:a16="http://schemas.microsoft.com/office/drawing/2014/main" val="10000"/>
                  </a:ext>
                </a:extLst>
              </a:tr>
              <a:tr h="457200">
                <a:tc>
                  <a:txBody>
                    <a:bodyPr/>
                    <a:lstStyle/>
                    <a:p>
                      <a:pPr algn="l"/>
                      <a:r>
                        <a:rPr sz="1600" b="0">
                          <a:solidFill>
                            <a:srgbClr val="1B222C"/>
                          </a:solidFill>
                        </a:rPr>
                        <a:t>forced to answer everything</a:t>
                      </a:r>
                    </a:p>
                  </a:txBody>
                  <a:tcPr>
                    <a:solidFill>
                      <a:srgbClr val="FFFFFF"/>
                    </a:solidFill>
                  </a:tcPr>
                </a:tc>
                <a:tc>
                  <a:txBody>
                    <a:bodyPr/>
                    <a:lstStyle/>
                    <a:p>
                      <a:pPr algn="r"/>
                      <a:r>
                        <a:rPr sz="1600" b="0">
                          <a:solidFill>
                            <a:srgbClr val="1B222C"/>
                          </a:solidFill>
                        </a:rPr>
                        <a:t>100%</a:t>
                      </a:r>
                    </a:p>
                  </a:txBody>
                  <a:tcPr>
                    <a:solidFill>
                      <a:srgbClr val="FFFFFF"/>
                    </a:solidFill>
                  </a:tcPr>
                </a:tc>
                <a:tc>
                  <a:txBody>
                    <a:bodyPr/>
                    <a:lstStyle/>
                    <a:p>
                      <a:pPr algn="r"/>
                      <a:r>
                        <a:rPr sz="1600" b="0">
                          <a:solidFill>
                            <a:srgbClr val="1B222C"/>
                          </a:solidFill>
                        </a:rPr>
                        <a:t>77.7%</a:t>
                      </a:r>
                    </a:p>
                  </a:txBody>
                  <a:tcPr>
                    <a:solidFill>
                      <a:srgbClr val="FFFFFF"/>
                    </a:solidFill>
                  </a:tcPr>
                </a:tc>
                <a:extLst>
                  <a:ext uri="{0D108BD9-81ED-4DB2-BD59-A6C34878D82A}">
                    <a16:rowId xmlns:a16="http://schemas.microsoft.com/office/drawing/2014/main" val="10001"/>
                  </a:ext>
                </a:extLst>
              </a:tr>
              <a:tr h="457200">
                <a:tc>
                  <a:txBody>
                    <a:bodyPr/>
                    <a:lstStyle/>
                    <a:p>
                      <a:pPr algn="l"/>
                      <a:r>
                        <a:rPr sz="1600" b="1">
                          <a:solidFill>
                            <a:srgbClr val="C0392B"/>
                          </a:solidFill>
                        </a:rPr>
                        <a:t>stays quiet below 0.584</a:t>
                      </a:r>
                    </a:p>
                  </a:txBody>
                  <a:tcPr>
                    <a:solidFill>
                      <a:srgbClr val="FFFFFF"/>
                    </a:solidFill>
                  </a:tcPr>
                </a:tc>
                <a:tc>
                  <a:txBody>
                    <a:bodyPr/>
                    <a:lstStyle/>
                    <a:p>
                      <a:pPr algn="r"/>
                      <a:r>
                        <a:rPr sz="1600" b="1">
                          <a:solidFill>
                            <a:srgbClr val="C0392B"/>
                          </a:solidFill>
                        </a:rPr>
                        <a:t>80.7%</a:t>
                      </a:r>
                    </a:p>
                  </a:txBody>
                  <a:tcPr>
                    <a:solidFill>
                      <a:srgbClr val="FFFFFF"/>
                    </a:solidFill>
                  </a:tcPr>
                </a:tc>
                <a:tc>
                  <a:txBody>
                    <a:bodyPr/>
                    <a:lstStyle/>
                    <a:p>
                      <a:pPr algn="r"/>
                      <a:r>
                        <a:rPr sz="1600" b="1">
                          <a:solidFill>
                            <a:srgbClr val="C0392B"/>
                          </a:solidFill>
                        </a:rPr>
                        <a:t>83.4%</a:t>
                      </a:r>
                    </a:p>
                  </a:txBody>
                  <a:tcPr>
                    <a:solidFill>
                      <a:srgbClr val="FFFFFF"/>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640080" y="4023360"/>
            <a:ext cx="10881360" cy="2468880"/>
          </a:xfrm>
          <a:prstGeom prst="rect">
            <a:avLst/>
          </a:prstGeom>
          <a:noFill/>
        </p:spPr>
        <p:txBody>
          <a:bodyPr wrap="square">
            <a:spAutoFit/>
          </a:bodyPr>
          <a:lstStyle/>
          <a:p>
            <a:pPr>
              <a:spcAft>
                <a:spcPts val="1200"/>
              </a:spcAft>
            </a:pPr>
            <a:r>
              <a:rPr sz="1500">
                <a:solidFill>
                  <a:srgbClr val="1B222C"/>
                </a:solidFill>
              </a:rPr>
              <a:t>Chapter 07 §4 moves the threshold to trade precision against recall. I move the same threshold, but instead of flipping the answer I hold the article back and send it to a person.</a:t>
            </a:r>
          </a:p>
          <a:p>
            <a:pPr>
              <a:spcAft>
                <a:spcPts val="1200"/>
              </a:spcAft>
            </a:pPr>
            <a:r>
              <a:rPr sz="1500">
                <a:solidFill>
                  <a:srgbClr val="1B222C"/>
                </a:solidFill>
              </a:rPr>
              <a:t>The cut-off is chosen on training data only, at the point where precision hits 90%. It never looks at validation or test.</a:t>
            </a:r>
          </a:p>
          <a:p>
            <a:pPr>
              <a:spcAft>
                <a:spcPts val="1200"/>
              </a:spcAft>
            </a:pPr>
            <a:r>
              <a:rPr sz="1500">
                <a:solidFill>
                  <a:srgbClr val="1B222C"/>
                </a:solidFill>
              </a:rPr>
              <a:t>One cut-off for all 13 topics. Separate cut-offs per topic gained nothing, because calibration had already put every topic on the same scale.</a:t>
            </a:r>
          </a:p>
          <a:p>
            <a:pPr>
              <a:spcAft>
                <a:spcPts val="1200"/>
              </a:spcAft>
            </a:pPr>
            <a:r>
              <a:rPr sz="1500">
                <a:solidFill>
                  <a:srgbClr val="1B222C"/>
                </a:solidFill>
              </a:rPr>
              <a:t>It doubts the right things. On 63 articles that my labellers could not classify either, the median confidence is 0.70 against 0.81 on the rest.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RESULTS</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Opening the test set, once</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920240"/>
          <a:ext cx="10881360" cy="2944368"/>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420624">
                <a:tc>
                  <a:txBody>
                    <a:bodyPr/>
                    <a:lstStyle/>
                    <a:p>
                      <a:pPr algn="l"/>
                      <a:endParaRPr/>
                    </a:p>
                  </a:txBody>
                  <a:tcPr>
                    <a:solidFill>
                      <a:srgbClr val="F2F5F8"/>
                    </a:solidFill>
                  </a:tcPr>
                </a:tc>
                <a:tc>
                  <a:txBody>
                    <a:bodyPr/>
                    <a:lstStyle/>
                    <a:p>
                      <a:pPr algn="r"/>
                      <a:r>
                        <a:rPr sz="1400" b="1">
                          <a:solidFill>
                            <a:srgbClr val="1B222C"/>
                          </a:solidFill>
                        </a:rPr>
                        <a:t>validation</a:t>
                      </a:r>
                    </a:p>
                  </a:txBody>
                  <a:tcPr>
                    <a:solidFill>
                      <a:srgbClr val="F2F5F8"/>
                    </a:solidFill>
                  </a:tcPr>
                </a:tc>
                <a:tc>
                  <a:txBody>
                    <a:bodyPr/>
                    <a:lstStyle/>
                    <a:p>
                      <a:pPr algn="r"/>
                      <a:r>
                        <a:rPr sz="1400" b="1">
                          <a:solidFill>
                            <a:srgbClr val="1B222C"/>
                          </a:solidFill>
                        </a:rPr>
                        <a:t>test</a:t>
                      </a:r>
                    </a:p>
                  </a:txBody>
                  <a:tcPr>
                    <a:solidFill>
                      <a:srgbClr val="F2F5F8"/>
                    </a:solidFill>
                  </a:tcPr>
                </a:tc>
                <a:extLst>
                  <a:ext uri="{0D108BD9-81ED-4DB2-BD59-A6C34878D82A}">
                    <a16:rowId xmlns:a16="http://schemas.microsoft.com/office/drawing/2014/main" val="10000"/>
                  </a:ext>
                </a:extLst>
              </a:tr>
              <a:tr h="420624">
                <a:tc>
                  <a:txBody>
                    <a:bodyPr/>
                    <a:lstStyle/>
                    <a:p>
                      <a:pPr algn="l"/>
                      <a:r>
                        <a:rPr sz="1400" b="0">
                          <a:solidFill>
                            <a:srgbClr val="1B222C"/>
                          </a:solidFill>
                        </a:rPr>
                        <a:t>articles</a:t>
                      </a:r>
                    </a:p>
                  </a:txBody>
                  <a:tcPr>
                    <a:solidFill>
                      <a:srgbClr val="FFFFFF"/>
                    </a:solidFill>
                  </a:tcPr>
                </a:tc>
                <a:tc>
                  <a:txBody>
                    <a:bodyPr/>
                    <a:lstStyle/>
                    <a:p>
                      <a:pPr algn="r"/>
                      <a:r>
                        <a:rPr sz="1400" b="0">
                          <a:solidFill>
                            <a:srgbClr val="1B222C"/>
                          </a:solidFill>
                        </a:rPr>
                        <a:t>1,120</a:t>
                      </a:r>
                    </a:p>
                  </a:txBody>
                  <a:tcPr>
                    <a:solidFill>
                      <a:srgbClr val="FFFFFF"/>
                    </a:solidFill>
                  </a:tcPr>
                </a:tc>
                <a:tc>
                  <a:txBody>
                    <a:bodyPr/>
                    <a:lstStyle/>
                    <a:p>
                      <a:pPr algn="r"/>
                      <a:r>
                        <a:rPr sz="1400" b="0">
                          <a:solidFill>
                            <a:srgbClr val="1B222C"/>
                          </a:solidFill>
                        </a:rPr>
                        <a:t>1,159</a:t>
                      </a:r>
                    </a:p>
                  </a:txBody>
                  <a:tcPr>
                    <a:solidFill>
                      <a:srgbClr val="FFFFFF"/>
                    </a:solidFill>
                  </a:tcPr>
                </a:tc>
                <a:extLst>
                  <a:ext uri="{0D108BD9-81ED-4DB2-BD59-A6C34878D82A}">
                    <a16:rowId xmlns:a16="http://schemas.microsoft.com/office/drawing/2014/main" val="10001"/>
                  </a:ext>
                </a:extLst>
              </a:tr>
              <a:tr h="420624">
                <a:tc>
                  <a:txBody>
                    <a:bodyPr/>
                    <a:lstStyle/>
                    <a:p>
                      <a:pPr algn="l"/>
                      <a:r>
                        <a:rPr sz="1400" b="1">
                          <a:solidFill>
                            <a:srgbClr val="C0392B"/>
                          </a:solidFill>
                        </a:rPr>
                        <a:t>macro-F1</a:t>
                      </a:r>
                    </a:p>
                  </a:txBody>
                  <a:tcPr>
                    <a:solidFill>
                      <a:srgbClr val="FFFFFF"/>
                    </a:solidFill>
                  </a:tcPr>
                </a:tc>
                <a:tc>
                  <a:txBody>
                    <a:bodyPr/>
                    <a:lstStyle/>
                    <a:p>
                      <a:pPr algn="r"/>
                      <a:r>
                        <a:rPr sz="1400" b="1">
                          <a:solidFill>
                            <a:srgbClr val="C0392B"/>
                          </a:solidFill>
                        </a:rPr>
                        <a:t>0.769 [0.738, 0.794]</a:t>
                      </a:r>
                    </a:p>
                  </a:txBody>
                  <a:tcPr>
                    <a:solidFill>
                      <a:srgbClr val="FFFFFF"/>
                    </a:solidFill>
                  </a:tcPr>
                </a:tc>
                <a:tc>
                  <a:txBody>
                    <a:bodyPr/>
                    <a:lstStyle/>
                    <a:p>
                      <a:pPr algn="r"/>
                      <a:r>
                        <a:rPr sz="1400" b="1">
                          <a:solidFill>
                            <a:srgbClr val="C0392B"/>
                          </a:solidFill>
                        </a:rPr>
                        <a:t>0.751 [0.719, 0.780]</a:t>
                      </a:r>
                    </a:p>
                  </a:txBody>
                  <a:tcPr>
                    <a:solidFill>
                      <a:srgbClr val="FFFFFF"/>
                    </a:solidFill>
                  </a:tcPr>
                </a:tc>
                <a:extLst>
                  <a:ext uri="{0D108BD9-81ED-4DB2-BD59-A6C34878D82A}">
                    <a16:rowId xmlns:a16="http://schemas.microsoft.com/office/drawing/2014/main" val="10002"/>
                  </a:ext>
                </a:extLst>
              </a:tr>
              <a:tr h="420624">
                <a:tc>
                  <a:txBody>
                    <a:bodyPr/>
                    <a:lstStyle/>
                    <a:p>
                      <a:pPr algn="l"/>
                      <a:r>
                        <a:rPr sz="1400" b="0">
                          <a:solidFill>
                            <a:srgbClr val="1B222C"/>
                          </a:solidFill>
                        </a:rPr>
                        <a:t>accuracy</a:t>
                      </a:r>
                    </a:p>
                  </a:txBody>
                  <a:tcPr>
                    <a:solidFill>
                      <a:srgbClr val="FFFFFF"/>
                    </a:solidFill>
                  </a:tcPr>
                </a:tc>
                <a:tc>
                  <a:txBody>
                    <a:bodyPr/>
                    <a:lstStyle/>
                    <a:p>
                      <a:pPr algn="r"/>
                      <a:r>
                        <a:rPr sz="1400" b="0">
                          <a:solidFill>
                            <a:srgbClr val="1B222C"/>
                          </a:solidFill>
                        </a:rPr>
                        <a:t>0.795</a:t>
                      </a:r>
                    </a:p>
                  </a:txBody>
                  <a:tcPr>
                    <a:solidFill>
                      <a:srgbClr val="FFFFFF"/>
                    </a:solidFill>
                  </a:tcPr>
                </a:tc>
                <a:tc>
                  <a:txBody>
                    <a:bodyPr/>
                    <a:lstStyle/>
                    <a:p>
                      <a:pPr algn="r"/>
                      <a:r>
                        <a:rPr sz="1400" b="0">
                          <a:solidFill>
                            <a:srgbClr val="1B222C"/>
                          </a:solidFill>
                        </a:rPr>
                        <a:t>0.778</a:t>
                      </a:r>
                    </a:p>
                  </a:txBody>
                  <a:tcPr>
                    <a:solidFill>
                      <a:srgbClr val="FFFFFF"/>
                    </a:solidFill>
                  </a:tcPr>
                </a:tc>
                <a:extLst>
                  <a:ext uri="{0D108BD9-81ED-4DB2-BD59-A6C34878D82A}">
                    <a16:rowId xmlns:a16="http://schemas.microsoft.com/office/drawing/2014/main" val="10003"/>
                  </a:ext>
                </a:extLst>
              </a:tr>
              <a:tr h="420624">
                <a:tc>
                  <a:txBody>
                    <a:bodyPr/>
                    <a:lstStyle/>
                    <a:p>
                      <a:pPr algn="l"/>
                      <a:r>
                        <a:rPr sz="1400" b="0">
                          <a:solidFill>
                            <a:srgbClr val="1B222C"/>
                          </a:solidFill>
                        </a:rPr>
                        <a:t>gap between claimed and real confidence</a:t>
                      </a:r>
                    </a:p>
                  </a:txBody>
                  <a:tcPr>
                    <a:solidFill>
                      <a:srgbClr val="FFFFFF"/>
                    </a:solidFill>
                  </a:tcPr>
                </a:tc>
                <a:tc>
                  <a:txBody>
                    <a:bodyPr/>
                    <a:lstStyle/>
                    <a:p>
                      <a:pPr algn="r"/>
                      <a:r>
                        <a:rPr sz="1400" b="0">
                          <a:solidFill>
                            <a:srgbClr val="1B222C"/>
                          </a:solidFill>
                        </a:rPr>
                        <a:t>0.039</a:t>
                      </a:r>
                    </a:p>
                  </a:txBody>
                  <a:tcPr>
                    <a:solidFill>
                      <a:srgbClr val="FFFFFF"/>
                    </a:solidFill>
                  </a:tcPr>
                </a:tc>
                <a:tc>
                  <a:txBody>
                    <a:bodyPr/>
                    <a:lstStyle/>
                    <a:p>
                      <a:pPr algn="r"/>
                      <a:r>
                        <a:rPr sz="1400" b="0">
                          <a:solidFill>
                            <a:srgbClr val="1B222C"/>
                          </a:solidFill>
                        </a:rPr>
                        <a:t>0.021</a:t>
                      </a:r>
                    </a:p>
                  </a:txBody>
                  <a:tcPr>
                    <a:solidFill>
                      <a:srgbClr val="FFFFFF"/>
                    </a:solidFill>
                  </a:tcPr>
                </a:tc>
                <a:extLst>
                  <a:ext uri="{0D108BD9-81ED-4DB2-BD59-A6C34878D82A}">
                    <a16:rowId xmlns:a16="http://schemas.microsoft.com/office/drawing/2014/main" val="10004"/>
                  </a:ext>
                </a:extLst>
              </a:tr>
              <a:tr h="420624">
                <a:tc>
                  <a:txBody>
                    <a:bodyPr/>
                    <a:lstStyle/>
                    <a:p>
                      <a:pPr algn="l"/>
                      <a:r>
                        <a:rPr sz="1400" b="0">
                          <a:solidFill>
                            <a:srgbClr val="1B222C"/>
                          </a:solidFill>
                        </a:rPr>
                        <a:t>how much it answered</a:t>
                      </a:r>
                    </a:p>
                  </a:txBody>
                  <a:tcPr>
                    <a:solidFill>
                      <a:srgbClr val="FFFFFF"/>
                    </a:solidFill>
                  </a:tcPr>
                </a:tc>
                <a:tc>
                  <a:txBody>
                    <a:bodyPr/>
                    <a:lstStyle/>
                    <a:p>
                      <a:pPr algn="r"/>
                      <a:r>
                        <a:rPr sz="1400" b="0">
                          <a:solidFill>
                            <a:srgbClr val="1B222C"/>
                          </a:solidFill>
                        </a:rPr>
                        <a:t>76.1%</a:t>
                      </a:r>
                    </a:p>
                  </a:txBody>
                  <a:tcPr>
                    <a:solidFill>
                      <a:srgbClr val="FFFFFF"/>
                    </a:solidFill>
                  </a:tcPr>
                </a:tc>
                <a:tc>
                  <a:txBody>
                    <a:bodyPr/>
                    <a:lstStyle/>
                    <a:p>
                      <a:pPr algn="r"/>
                      <a:r>
                        <a:rPr sz="1400" b="0">
                          <a:solidFill>
                            <a:srgbClr val="1B222C"/>
                          </a:solidFill>
                        </a:rPr>
                        <a:t>80.7%</a:t>
                      </a:r>
                    </a:p>
                  </a:txBody>
                  <a:tcPr>
                    <a:solidFill>
                      <a:srgbClr val="FFFFFF"/>
                    </a:solidFill>
                  </a:tcPr>
                </a:tc>
                <a:extLst>
                  <a:ext uri="{0D108BD9-81ED-4DB2-BD59-A6C34878D82A}">
                    <a16:rowId xmlns:a16="http://schemas.microsoft.com/office/drawing/2014/main" val="10005"/>
                  </a:ext>
                </a:extLst>
              </a:tr>
              <a:tr h="420624">
                <a:tc>
                  <a:txBody>
                    <a:bodyPr/>
                    <a:lstStyle/>
                    <a:p>
                      <a:pPr algn="l"/>
                      <a:r>
                        <a:rPr sz="1400" b="0">
                          <a:solidFill>
                            <a:srgbClr val="1B222C"/>
                          </a:solidFill>
                        </a:rPr>
                        <a:t>accuracy on what it answered</a:t>
                      </a:r>
                    </a:p>
                  </a:txBody>
                  <a:tcPr>
                    <a:solidFill>
                      <a:srgbClr val="FFFFFF"/>
                    </a:solidFill>
                  </a:tcPr>
                </a:tc>
                <a:tc>
                  <a:txBody>
                    <a:bodyPr/>
                    <a:lstStyle/>
                    <a:p>
                      <a:pPr algn="r"/>
                      <a:r>
                        <a:rPr sz="1400" b="0">
                          <a:solidFill>
                            <a:srgbClr val="1B222C"/>
                          </a:solidFill>
                        </a:rPr>
                        <a:t>0.879</a:t>
                      </a:r>
                    </a:p>
                  </a:txBody>
                  <a:tcPr>
                    <a:solidFill>
                      <a:srgbClr val="FFFFFF"/>
                    </a:solidFill>
                  </a:tcPr>
                </a:tc>
                <a:tc>
                  <a:txBody>
                    <a:bodyPr/>
                    <a:lstStyle/>
                    <a:p>
                      <a:pPr algn="r"/>
                      <a:r>
                        <a:rPr sz="1400" b="0">
                          <a:solidFill>
                            <a:srgbClr val="1B222C"/>
                          </a:solidFill>
                        </a:rPr>
                        <a:t>0.834</a:t>
                      </a:r>
                    </a:p>
                  </a:txBody>
                  <a:tcPr>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640080" y="5120640"/>
            <a:ext cx="10881360" cy="731520"/>
          </a:xfrm>
          <a:prstGeom prst="rect">
            <a:avLst/>
          </a:prstGeom>
          <a:noFill/>
        </p:spPr>
        <p:txBody>
          <a:bodyPr wrap="square">
            <a:spAutoFit/>
          </a:bodyPr>
          <a:lstStyle/>
          <a:p>
            <a:pPr algn="l">
              <a:spcAft>
                <a:spcPts val="800"/>
              </a:spcAft>
            </a:pPr>
            <a:r>
              <a:rPr sz="2000" b="1">
                <a:solidFill>
                  <a:srgbClr val="1E7A4B"/>
                </a:solidFill>
              </a:rPr>
              <a:t>Test is -0.018 below validation. I had written down beforehand that anything inside 0.05 was fine, so I changed nothing after seeing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RESULTS</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Precision and recall, topic by topic</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recision-recall.png"/>
          <p:cNvPicPr>
            <a:picLocks noChangeAspect="1"/>
          </p:cNvPicPr>
          <p:nvPr/>
        </p:nvPicPr>
        <p:blipFill>
          <a:blip r:embed="rId2"/>
          <a:stretch>
            <a:fillRect/>
          </a:stretch>
        </p:blipFill>
        <p:spPr>
          <a:xfrm>
            <a:off x="731520" y="1737360"/>
            <a:ext cx="5943600" cy="3326921"/>
          </a:xfrm>
          <a:prstGeom prst="rect">
            <a:avLst/>
          </a:prstGeom>
        </p:spPr>
      </p:pic>
      <p:sp>
        <p:nvSpPr>
          <p:cNvPr id="6" name="TextBox 5"/>
          <p:cNvSpPr txBox="1"/>
          <p:nvPr/>
        </p:nvSpPr>
        <p:spPr>
          <a:xfrm>
            <a:off x="6949440" y="1828800"/>
            <a:ext cx="4572000" cy="4663440"/>
          </a:xfrm>
          <a:prstGeom prst="rect">
            <a:avLst/>
          </a:prstGeom>
          <a:noFill/>
        </p:spPr>
        <p:txBody>
          <a:bodyPr wrap="square">
            <a:spAutoFit/>
          </a:bodyPr>
          <a:lstStyle/>
          <a:p>
            <a:pPr>
              <a:spcAft>
                <a:spcPts val="1200"/>
              </a:spcAft>
            </a:pPr>
            <a:r>
              <a:rPr sz="1500">
                <a:solidFill>
                  <a:srgbClr val="1B222C"/>
                </a:solidFill>
              </a:rPr>
              <a:t>Sport is the best: precision 0.93, recall 0.98.</a:t>
            </a:r>
          </a:p>
          <a:p>
            <a:pPr>
              <a:spcAft>
                <a:spcPts val="1200"/>
              </a:spcAft>
            </a:pPr>
            <a:r>
              <a:rPr sz="1500">
                <a:solidFill>
                  <a:srgbClr val="1B222C"/>
                </a:solidFill>
              </a:rPr>
              <a:t>Conflict and education both have F1 near 0.72, but look at the bars. Conflict is high precision and low recall. Education is the reverse. Two different problems hiding behind one number.</a:t>
            </a:r>
          </a:p>
          <a:p>
            <a:pPr lvl="1">
              <a:spcAft>
                <a:spcPts val="600"/>
              </a:spcAft>
            </a:pPr>
            <a:r>
              <a:rPr sz="1200">
                <a:solidFill>
                  <a:srgbClr val="5A6675"/>
                </a:solidFill>
              </a:rPr>
              <a:t>Education only has 29 validation articles, so its bars move a lot. I treat that as noise, not as a result.</a:t>
            </a:r>
          </a:p>
          <a:p>
            <a:pPr>
              <a:spcAft>
                <a:spcPts val="1200"/>
              </a:spcAft>
            </a:pPr>
            <a:r>
              <a:rPr sz="1500">
                <a:solidFill>
                  <a:srgbClr val="1B222C"/>
                </a:solidFill>
              </a:rPr>
              <a:t>Society and lifestyle is the genuine failure. Recall 0.38, so it misses 41 of its 66 articles. It is three ideas stuck together: community, jobs, lifestyle.</a:t>
            </a:r>
          </a:p>
          <a:p>
            <a:pPr>
              <a:spcAft>
                <a:spcPts val="1200"/>
              </a:spcAft>
            </a:pPr>
            <a:r>
              <a:rPr sz="1500">
                <a:solidFill>
                  <a:srgbClr val="1B222C"/>
                </a:solidFill>
              </a:rPr>
              <a:t>About 19% of all mistakes are on topic pairs where my own labellers disagreed with each other. So there is a ceiling here well below a perfect score.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HONESTY</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Four things I had to learn outside class</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10881360" cy="4663440"/>
          </a:xfrm>
          <a:prstGeom prst="rect">
            <a:avLst/>
          </a:prstGeom>
          <a:noFill/>
        </p:spPr>
        <p:txBody>
          <a:bodyPr wrap="square">
            <a:spAutoFit/>
          </a:bodyPr>
          <a:lstStyle/>
          <a:p>
            <a:pPr>
              <a:spcAft>
                <a:spcPts val="1200"/>
              </a:spcAft>
            </a:pPr>
            <a:r>
              <a:rPr sz="1800">
                <a:solidFill>
                  <a:srgbClr val="1B222C"/>
                </a:solidFill>
              </a:rPr>
              <a:t>The SVM itself. Chapter 06b names it in one line as the strong learner that ensembles try to replace, and never builds one.</a:t>
            </a:r>
          </a:p>
          <a:p>
            <a:pPr>
              <a:spcAft>
                <a:spcPts val="1200"/>
              </a:spcAft>
            </a:pPr>
            <a:r>
              <a:rPr sz="1800">
                <a:solidFill>
                  <a:srgbClr val="1B222C"/>
                </a:solidFill>
              </a:rPr>
              <a:t>Calibration. Chapter 07 §7 says AUC cannot see it, but nothing in the course fixes it. I learn a curve from raw score to how often that score is right.</a:t>
            </a:r>
          </a:p>
          <a:p>
            <a:pPr>
              <a:spcAft>
                <a:spcPts val="1200"/>
              </a:spcAft>
            </a:pPr>
            <a:r>
              <a:rPr sz="1800">
                <a:solidFill>
                  <a:srgbClr val="1B222C"/>
                </a:solidFill>
              </a:rPr>
              <a:t>Turning text into numbers. Every chapter starts from a table with columns. News has no columns, so I count words, and also 3 to 5 letter chunks, which is what catches Rs. against Rs and different word endings.</a:t>
            </a:r>
          </a:p>
          <a:p>
            <a:pPr>
              <a:spcAft>
                <a:spcPts val="1200"/>
              </a:spcAft>
            </a:pPr>
            <a:r>
              <a:rPr sz="1800">
                <a:solidFill>
                  <a:srgbClr val="1B222C"/>
                </a:solidFill>
              </a:rPr>
              <a:t>A paired test, so a 0.02 gap on 1,120 articles does not get reported as a real improvement when it is luck.</a:t>
            </a:r>
          </a:p>
          <a:p>
            <a:pPr lvl="1">
              <a:spcAft>
                <a:spcPts val="600"/>
              </a:spcAft>
            </a:pPr>
            <a:r>
              <a:rPr sz="1500">
                <a:solidFill>
                  <a:srgbClr val="5A6675"/>
                </a:solidFill>
              </a:rPr>
              <a:t>And one thing I thought was new and was not. The bootstrap behind my error bars is Chapter 06 §3.1's bootstrap sample, doing a different job.</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LIVE</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The demo</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10881360" cy="4663440"/>
          </a:xfrm>
          <a:prstGeom prst="rect">
            <a:avLst/>
          </a:prstGeom>
          <a:noFill/>
        </p:spPr>
        <p:txBody>
          <a:bodyPr wrap="square">
            <a:spAutoFit/>
          </a:bodyPr>
          <a:lstStyle/>
          <a:p>
            <a:pPr>
              <a:spcAft>
                <a:spcPts val="1200"/>
              </a:spcAft>
            </a:pPr>
            <a:r>
              <a:rPr sz="1800">
                <a:solidFill>
                  <a:srgbClr val="1B222C"/>
                </a:solidFill>
              </a:rPr>
              <a:t>Paste any news article. It gives a topic, a confidence, and either files it or holds it back for a human.</a:t>
            </a:r>
          </a:p>
          <a:p>
            <a:pPr>
              <a:spcAft>
                <a:spcPts val="1200"/>
              </a:spcAft>
            </a:pPr>
            <a:r>
              <a:rPr sz="1800">
                <a:solidFill>
                  <a:srgbClr val="1B222C"/>
                </a:solidFill>
              </a:rPr>
              <a:t>It shows its working. The model is a weighted sum of word counts, so the words with the biggest weights are literally the reason. That is the actual sum, not an explanation invented afterwards.</a:t>
            </a:r>
          </a:p>
          <a:p>
            <a:pPr>
              <a:spcAft>
                <a:spcPts val="1200"/>
              </a:spcAft>
            </a:pPr>
            <a:r>
              <a:rPr sz="1800">
                <a:solidFill>
                  <a:srgbClr val="1B222C"/>
                </a:solidFill>
              </a:rPr>
              <a:t>The threshold is a live slider. Move it and watch coverage and accuracy trade against each other, which is the Chapter 07 §4 curve running in front of you.</a:t>
            </a:r>
          </a:p>
          <a:p>
            <a:pPr>
              <a:spcAft>
                <a:spcPts val="1200"/>
              </a:spcAft>
            </a:pPr>
            <a:r>
              <a:rPr sz="1800">
                <a:solidFill>
                  <a:srgbClr val="1B222C"/>
                </a:solidFill>
              </a:rPr>
              <a:t>A Validation tab with the real per-class bars, the reliability chart and the confusion matrix, so you can check the claims instead of believing them.</a:t>
            </a:r>
          </a:p>
          <a:p>
            <a:pPr>
              <a:spcAft>
                <a:spcPts val="1200"/>
              </a:spcAft>
            </a:pPr>
            <a:r>
              <a:rPr sz="1800">
                <a:solidFill>
                  <a:srgbClr val="1B222C"/>
                </a:solidFill>
              </a:rPr>
              <a:t>A batch tab that runs it over real collected articles that nobody labelled.</a:t>
            </a:r>
          </a:p>
        </p:txBody>
      </p:sp>
      <p:sp>
        <p:nvSpPr>
          <p:cNvPr id="6" name="TextBox 5"/>
          <p:cNvSpPr txBox="1"/>
          <p:nvPr/>
        </p:nvSpPr>
        <p:spPr>
          <a:xfrm>
            <a:off x="640080" y="6035040"/>
            <a:ext cx="10881360" cy="548640"/>
          </a:xfrm>
          <a:prstGeom prst="rect">
            <a:avLst/>
          </a:prstGeom>
          <a:noFill/>
        </p:spPr>
        <p:txBody>
          <a:bodyPr wrap="square">
            <a:spAutoFit/>
          </a:bodyPr>
          <a:lstStyle/>
          <a:p>
            <a:pPr algn="l">
              <a:spcAft>
                <a:spcPts val="800"/>
              </a:spcAft>
            </a:pPr>
            <a:r>
              <a:rPr sz="1400" b="0">
                <a:solidFill>
                  <a:srgbClr val="5A6675"/>
                </a:solidFill>
              </a:rPr>
              <a:t>uv run streamlit run app/streamlit_app.py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LIMITATIONS</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What I am not claiming</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10881360" cy="4663440"/>
          </a:xfrm>
          <a:prstGeom prst="rect">
            <a:avLst/>
          </a:prstGeom>
          <a:noFill/>
        </p:spPr>
        <p:txBody>
          <a:bodyPr wrap="square">
            <a:spAutoFit/>
          </a:bodyPr>
          <a:lstStyle/>
          <a:p>
            <a:pPr>
              <a:spcAft>
                <a:spcPts val="1200"/>
              </a:spcAft>
            </a:pPr>
            <a:r>
              <a:rPr sz="1800">
                <a:solidFill>
                  <a:srgbClr val="1B222C"/>
                </a:solidFill>
              </a:rPr>
              <a:t>I collected over four days. So I cannot say anything about how news topics change over months. The two publisher holdouts are the only evidence I have that it generalises.</a:t>
            </a:r>
          </a:p>
          <a:p>
            <a:pPr>
              <a:spcAft>
                <a:spcPts val="1200"/>
              </a:spcAft>
            </a:pPr>
            <a:r>
              <a:rPr sz="1800">
                <a:solidFill>
                  <a:srgbClr val="1B222C"/>
                </a:solidFill>
              </a:rPr>
              <a:t>English only, and mostly Indian papers, plus The Guardian, BBC and France 24. I would not trust it on Hindi or Tamil news without retraining.</a:t>
            </a:r>
          </a:p>
          <a:p>
            <a:pPr>
              <a:spcAft>
                <a:spcPts val="1200"/>
              </a:spcAft>
            </a:pPr>
            <a:r>
              <a:rPr sz="1800">
                <a:solidFill>
                  <a:srgbClr val="1B222C"/>
                </a:solidFill>
              </a:rPr>
              <a:t>Conflict and war has only 120 training articles and dropped 0.14 on the test set. A thin class behaving like a thin class. I flagged that before opening the test set, not after.</a:t>
            </a:r>
          </a:p>
          <a:p>
            <a:pPr>
              <a:spcAft>
                <a:spcPts val="1200"/>
              </a:spcAft>
            </a:pPr>
            <a:r>
              <a:rPr sz="1800">
                <a:solidFill>
                  <a:srgbClr val="1B222C"/>
                </a:solidFill>
              </a:rPr>
              <a:t>Most of the labelling was done by one person, me. So I cannot measure how noisy the labels are by comparing two labellers.</a:t>
            </a:r>
          </a:p>
          <a:p>
            <a:pPr>
              <a:spcAft>
                <a:spcPts val="1200"/>
              </a:spcAft>
            </a:pPr>
            <a:r>
              <a:rPr sz="1800">
                <a:solidFill>
                  <a:srgbClr val="1B222C"/>
                </a:solidFill>
              </a:rPr>
              <a:t>I do not report ROC or AUC. Chapter 07 §7 says AUC only scores ranking and ignores whether the probabilities are honest, and honest probabilities are the whole basis of my abstention. So I measured that instead.</a:t>
            </a:r>
          </a:p>
          <a:p>
            <a:pPr>
              <a:spcAft>
                <a:spcPts val="1200"/>
              </a:spcAft>
            </a:pPr>
            <a:r>
              <a:rPr sz="1800">
                <a:solidFill>
                  <a:srgbClr val="1B222C"/>
                </a:solidFill>
              </a:rPr>
              <a:t>Obvious next step is a modern language model. I deliberately left it until after this comparison, so any gain belongs to one change and not two.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10881360" cy="274320"/>
          </a:xfrm>
          <a:prstGeom prst="rect">
            <a:avLst/>
          </a:prstGeom>
          <a:noFill/>
        </p:spPr>
        <p:txBody>
          <a:bodyPr wrap="square">
            <a:spAutoFit/>
          </a:bodyPr>
          <a:lstStyle/>
          <a:p>
            <a:pPr algn="l">
              <a:spcAft>
                <a:spcPts val="800"/>
              </a:spcAft>
            </a:pPr>
            <a:r>
              <a:rPr sz="1300" b="1">
                <a:solidFill>
                  <a:srgbClr val="C0392B"/>
                </a:solidFill>
              </a:rPr>
              <a:t>CONCLUSION</a:t>
            </a:r>
          </a:p>
        </p:txBody>
      </p:sp>
      <p:sp>
        <p:nvSpPr>
          <p:cNvPr id="3" name="TextBox 2"/>
          <p:cNvSpPr txBox="1"/>
          <p:nvPr/>
        </p:nvSpPr>
        <p:spPr>
          <a:xfrm>
            <a:off x="640080" y="658368"/>
            <a:ext cx="10881360" cy="731520"/>
          </a:xfrm>
          <a:prstGeom prst="rect">
            <a:avLst/>
          </a:prstGeom>
          <a:noFill/>
        </p:spPr>
        <p:txBody>
          <a:bodyPr wrap="square">
            <a:spAutoFit/>
          </a:bodyPr>
          <a:lstStyle/>
          <a:p>
            <a:pPr algn="l">
              <a:spcAft>
                <a:spcPts val="800"/>
              </a:spcAft>
            </a:pPr>
            <a:r>
              <a:rPr sz="3000" b="1">
                <a:solidFill>
                  <a:srgbClr val="1B222C"/>
                </a:solidFill>
              </a:rPr>
              <a:t>What I found</a:t>
            </a:r>
          </a:p>
        </p:txBody>
      </p:sp>
      <p:sp>
        <p:nvSpPr>
          <p:cNvPr id="4" name="Rectangle 3"/>
          <p:cNvSpPr/>
          <p:nvPr/>
        </p:nvSpPr>
        <p:spPr>
          <a:xfrm>
            <a:off x="640080" y="1481328"/>
            <a:ext cx="10881360" cy="9525"/>
          </a:xfrm>
          <a:prstGeom prst="rect">
            <a:avLst/>
          </a:prstGeom>
          <a:solidFill>
            <a:srgbClr val="DD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10881360" cy="4663440"/>
          </a:xfrm>
          <a:prstGeom prst="rect">
            <a:avLst/>
          </a:prstGeom>
          <a:noFill/>
        </p:spPr>
        <p:txBody>
          <a:bodyPr wrap="square">
            <a:spAutoFit/>
          </a:bodyPr>
          <a:lstStyle/>
          <a:p>
            <a:pPr>
              <a:spcAft>
                <a:spcPts val="1200"/>
              </a:spcAft>
            </a:pPr>
            <a:r>
              <a:rPr sz="1800">
                <a:solidFill>
                  <a:srgbClr val="1B222C"/>
                </a:solidFill>
              </a:rPr>
              <a:t>Reading the full article beats reading the headline, by 0.059 macro-F1 with p = 7.5e-06. My hypothesis held.</a:t>
            </a:r>
          </a:p>
          <a:p>
            <a:pPr>
              <a:spcAft>
                <a:spcPts val="1200"/>
              </a:spcAft>
            </a:pPr>
            <a:r>
              <a:rPr sz="1800">
                <a:solidFill>
                  <a:srgbClr val="1B222C"/>
                </a:solidFill>
              </a:rPr>
              <a:t>Trees, forests, boosting and voting, the entire ensemble half of the course, all scored below one plain linear model. The classifier was never my problem. Cleaning the data was.</a:t>
            </a:r>
          </a:p>
          <a:p>
            <a:pPr>
              <a:spcAft>
                <a:spcPts val="1200"/>
              </a:spcAft>
            </a:pPr>
            <a:r>
              <a:rPr sz="1800">
                <a:solidFill>
                  <a:srgbClr val="1B222C"/>
                </a:solidFill>
              </a:rPr>
              <a:t>Adding an honest confidence and the right to stay quiet turned a 77.7% accurate model into one that answers 80.7% of new articles and gets 83.4% of those right.</a:t>
            </a:r>
          </a:p>
          <a:p>
            <a:pPr>
              <a:spcAft>
                <a:spcPts val="1200"/>
              </a:spcAft>
            </a:pPr>
            <a:r>
              <a:rPr sz="1800">
                <a:solidFill>
                  <a:srgbClr val="1B222C"/>
                </a:solidFill>
              </a:rPr>
              <a:t>Final score on the test set: macro-F1 0.751, opened once, never reopened.</a:t>
            </a:r>
          </a:p>
        </p:txBody>
      </p:sp>
      <p:sp>
        <p:nvSpPr>
          <p:cNvPr id="6" name="TextBox 5"/>
          <p:cNvSpPr txBox="1"/>
          <p:nvPr/>
        </p:nvSpPr>
        <p:spPr>
          <a:xfrm>
            <a:off x="640080" y="5303520"/>
            <a:ext cx="10881360" cy="731520"/>
          </a:xfrm>
          <a:prstGeom prst="rect">
            <a:avLst/>
          </a:prstGeom>
          <a:noFill/>
        </p:spPr>
        <p:txBody>
          <a:bodyPr wrap="square">
            <a:spAutoFit/>
          </a:bodyPr>
          <a:lstStyle/>
          <a:p>
            <a:pPr algn="l">
              <a:spcAft>
                <a:spcPts val="800"/>
              </a:spcAft>
            </a:pPr>
            <a:r>
              <a:rPr sz="2200" b="1">
                <a:solidFill>
                  <a:srgbClr val="C0392B"/>
                </a:solidFill>
              </a:rPr>
              <a:t>The most useful part of this project is the list of things that did not work, with a number attached to each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3227</Words>
  <Application>Microsoft Macintosh PowerPoint</Application>
  <PresentationFormat>Widescreen</PresentationFormat>
  <Paragraphs>249</Paragraphs>
  <Slides>23</Slides>
  <Notes>0</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Mohamed Riaz</cp:lastModifiedBy>
  <cp:revision>3</cp:revision>
  <dcterms:created xsi:type="dcterms:W3CDTF">2013-01-27T09:14:16Z</dcterms:created>
  <dcterms:modified xsi:type="dcterms:W3CDTF">2026-08-27T04:30:33Z</dcterms:modified>
  <cp:category/>
</cp:coreProperties>
</file>